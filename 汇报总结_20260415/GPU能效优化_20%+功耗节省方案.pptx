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3C281E"/>
                </a:solidFill>
              </a:defRPr>
            </a:pPr>
            <a:r>
              <a:t>分布式训练 GPU 能效优化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8C50"/>
                </a:solidFill>
              </a:defRPr>
            </a:pPr>
            <a:r>
              <a:t>基于锁频策略的 20%+ 功耗节省方案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C281E"/>
                </a:solidFill>
              </a:defRPr>
            </a:pPr>
            <a:r>
              <a:t>汇报提纲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600"/>
              </a:spcBef>
              <a:defRPr sz="2400">
                <a:solidFill>
                  <a:srgbClr val="3C281E"/>
                </a:solidFill>
              </a:defRPr>
            </a:pPr>
            <a:r>
              <a:t>背景与挑战 - 大模型训练的能耗问题</a:t>
            </a:r>
          </a:p>
          <a:p>
            <a:pPr>
              <a:spcBef>
                <a:spcPts val="1600"/>
              </a:spcBef>
              <a:defRPr sz="2400">
                <a:solidFill>
                  <a:srgbClr val="3C281E"/>
                </a:solidFill>
              </a:defRPr>
            </a:pPr>
            <a:r>
              <a:t>技术方案 - 三层优化体系与网络感知预测</a:t>
            </a:r>
          </a:p>
          <a:p>
            <a:pPr>
              <a:spcBef>
                <a:spcPts val="1600"/>
              </a:spcBef>
              <a:defRPr sz="2400">
                <a:solidFill>
                  <a:srgbClr val="3C281E"/>
                </a:solidFill>
              </a:defRPr>
            </a:pPr>
            <a:r>
              <a:t>实验结果 - 24-35% 功耗节省实证</a:t>
            </a:r>
          </a:p>
          <a:p>
            <a:pPr>
              <a:spcBef>
                <a:spcPts val="1600"/>
              </a:spcBef>
              <a:defRPr sz="2400">
                <a:solidFill>
                  <a:srgbClr val="3C281E"/>
                </a:solidFill>
              </a:defRPr>
            </a:pPr>
            <a:r>
              <a:t>应用价值 - 成本分析与落地场景</a:t>
            </a:r>
          </a:p>
          <a:p>
            <a:pPr>
              <a:spcBef>
                <a:spcPts val="1600"/>
              </a:spcBef>
              <a:defRPr sz="2400">
                <a:solidFill>
                  <a:srgbClr val="3C281E"/>
                </a:solidFill>
              </a:defRPr>
            </a:pPr>
            <a:r>
              <a:t>总结与展望 - 核心成果与未来计划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B48C50"/>
                </a:solidFill>
              </a:defRPr>
            </a:pPr>
            <a:r>
              <a:t>背景与挑战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C281E"/>
                </a:solidFill>
              </a:defRPr>
            </a:pPr>
            <a:r>
              <a:t>大模型训练的能耗挑战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3C281E"/>
                </a:solidFill>
              </a:defRPr>
            </a:pPr>
            <a:r>
              <a:t>行业痛点:</a:t>
            </a:r>
          </a:p>
          <a:p>
            <a:pPr>
              <a:spcBef>
                <a:spcPts val="400"/>
              </a:spcBef>
              <a:defRPr sz="1600">
                <a:solidFill>
                  <a:srgbClr val="3C281E"/>
                </a:solidFill>
              </a:defRPr>
            </a:pPr>
            <a:r>
              <a:t>• GPT-4 级别模型训练耗电可达 1,200 万度</a:t>
            </a:r>
          </a:p>
          <a:p>
            <a:pPr>
              <a:spcBef>
                <a:spcPts val="400"/>
              </a:spcBef>
              <a:defRPr sz="1600">
                <a:solidFill>
                  <a:srgbClr val="3C281E"/>
                </a:solidFill>
              </a:defRPr>
            </a:pPr>
            <a:r>
              <a:t>• 电费占总成本的 40-60%</a:t>
            </a:r>
          </a:p>
          <a:p>
            <a:pPr>
              <a:spcBef>
                <a:spcPts val="400"/>
              </a:spcBef>
              <a:defRPr sz="1600">
                <a:solidFill>
                  <a:srgbClr val="3C281E"/>
                </a:solidFill>
              </a:defRPr>
            </a:pPr>
            <a:r>
              <a:t>• 碳排放成为 AI 发展的社会责任约束</a:t>
            </a:r>
          </a:p>
          <a:p>
            <a:pPr>
              <a:spcBef>
                <a:spcPts val="1200"/>
              </a:spcBef>
            </a:pPr>
          </a:p>
          <a:p>
            <a:pPr>
              <a:defRPr sz="1800" b="1">
                <a:solidFill>
                  <a:srgbClr val="3C281E"/>
                </a:solidFill>
              </a:defRPr>
            </a:pPr>
            <a:r>
              <a:t>传统方案局限:</a:t>
            </a:r>
          </a:p>
          <a:p>
            <a:pPr>
              <a:spcBef>
                <a:spcPts val="400"/>
              </a:spcBef>
              <a:defRPr sz="1600">
                <a:solidFill>
                  <a:srgbClr val="3C281E"/>
                </a:solidFill>
              </a:defRPr>
            </a:pPr>
            <a:r>
              <a:t>• 动态频率调整复杂度高</a:t>
            </a:r>
          </a:p>
          <a:p>
            <a:pPr>
              <a:spcBef>
                <a:spcPts val="400"/>
              </a:spcBef>
              <a:defRPr sz="1600">
                <a:solidFill>
                  <a:srgbClr val="3C281E"/>
                </a:solidFill>
              </a:defRPr>
            </a:pPr>
            <a:r>
              <a:t>• 默认配置远非能效最优</a:t>
            </a:r>
          </a:p>
          <a:p>
            <a:pPr>
              <a:spcBef>
                <a:spcPts val="400"/>
              </a:spcBef>
              <a:defRPr sz="1600">
                <a:solidFill>
                  <a:srgbClr val="3C281E"/>
                </a:solidFill>
              </a:defRPr>
            </a:pPr>
            <a:r>
              <a:t>• 缺乏精确的能效预测工具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18872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3C281E"/>
                </a:solidFill>
              </a:defRPr>
            </a:pPr>
            <a:r>
              <a:t>我们的洞察:</a:t>
            </a:r>
          </a:p>
          <a:p>
            <a:pPr>
              <a:spcBef>
                <a:spcPts val="400"/>
              </a:spcBef>
              <a:defRPr sz="1600">
                <a:solidFill>
                  <a:srgbClr val="3C281E"/>
                </a:solidFill>
              </a:defRPr>
            </a:pPr>
            <a:r>
              <a:t>• 固定频率策略可以在不显著影响训练时间的前提下</a:t>
            </a:r>
          </a:p>
          <a:p>
            <a:pPr>
              <a:spcBef>
                <a:spcPts val="400"/>
              </a:spcBef>
              <a:defRPr sz="1600">
                <a:solidFill>
                  <a:srgbClr val="3C281E"/>
                </a:solidFill>
              </a:defRPr>
            </a:pPr>
            <a:r>
              <a:t>• 实现显著的能耗节省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C281E"/>
                </a:solidFill>
              </a:defRPr>
            </a:pPr>
            <a:r>
              <a:t>核心技术挑战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2000">
                <a:solidFill>
                  <a:srgbClr val="3C281E"/>
                </a:solidFill>
              </a:defRPr>
            </a:pPr>
            <a:r>
              <a:t>• 挑战 1: 频率-性能非线性 - 高频收益递减，存在饱和区</a:t>
            </a:r>
          </a:p>
          <a:p>
            <a:pPr>
              <a:spcBef>
                <a:spcPts val="800"/>
              </a:spcBef>
              <a:defRPr sz="2000">
                <a:solidFill>
                  <a:srgbClr val="3C281E"/>
                </a:solidFill>
              </a:defRPr>
            </a:pPr>
            <a:r>
              <a:t>• 挑战 2: 跨节点通信 - 网络环境影响预测准确性（高速网 vs VPN）</a:t>
            </a:r>
          </a:p>
          <a:p>
            <a:pPr>
              <a:spcBef>
                <a:spcPts val="800"/>
              </a:spcBef>
              <a:defRPr sz="2000">
                <a:solidFill>
                  <a:srgbClr val="3C281E"/>
                </a:solidFill>
              </a:defRPr>
            </a:pPr>
            <a:r>
              <a:t>• 挑战 3: 并行拓扑多样性 - TP/PP/DP 不同组合的挑战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B48C50"/>
                </a:solidFill>
              </a:defRPr>
            </a:pPr>
            <a:r>
              <a:t>技术方案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C281E"/>
                </a:solidFill>
              </a:defRPr>
            </a:pPr>
            <a:r>
              <a:t>系统架构: 三层优化体系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2000">
                <a:solidFill>
                  <a:srgbClr val="3C281E"/>
                </a:solidFill>
              </a:defRPr>
            </a:pPr>
            <a:r>
              <a:t>• 实验层: 标准化定频实验流程，支持多节点并行</a:t>
            </a:r>
          </a:p>
          <a:p>
            <a:pPr>
              <a:spcBef>
                <a:spcPts val="800"/>
              </a:spcBef>
              <a:defRPr sz="2000">
                <a:solidFill>
                  <a:srgbClr val="3C281E"/>
                </a:solidFill>
              </a:defRPr>
            </a:pPr>
            <a:r>
              <a:t>• 监控层: 毫秒级功率采集，精确到每个训练步</a:t>
            </a:r>
          </a:p>
          <a:p>
            <a:pPr>
              <a:spcBef>
                <a:spcPts val="800"/>
              </a:spcBef>
              <a:defRPr sz="2000">
                <a:solidFill>
                  <a:srgbClr val="3C281E"/>
                </a:solidFill>
              </a:defRPr>
            </a:pPr>
            <a:r>
              <a:t>• 预测层: 动态网络检测，自适应跨节点建模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C281E"/>
                </a:solidFill>
              </a:defRPr>
            </a:pPr>
            <a:r>
              <a:t>关键创新: 网络感知预测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3C281E"/>
                </a:solidFill>
              </a:defRPr>
            </a:pPr>
            <a:r>
              <a:t>传统方案:</a:t>
            </a:r>
          </a:p>
          <a:p>
            <a:pPr>
              <a:spcBef>
                <a:spcPts val="400"/>
              </a:spcBef>
              <a:defRPr sz="1600">
                <a:solidFill>
                  <a:srgbClr val="3C281E"/>
                </a:solidFill>
              </a:defRPr>
            </a:pPr>
            <a:r>
              <a:t>• 固定跨节点惩罚系数</a:t>
            </a:r>
          </a:p>
          <a:p>
            <a:pPr>
              <a:spcBef>
                <a:spcPts val="400"/>
              </a:spcBef>
              <a:defRPr sz="1600">
                <a:solidFill>
                  <a:srgbClr val="3C281E"/>
                </a:solidFill>
              </a:defRPr>
            </a:pPr>
            <a:r>
              <a:t>• 假设慢速网络（VPN）</a:t>
            </a:r>
          </a:p>
          <a:p>
            <a:pPr>
              <a:spcBef>
                <a:spcPts val="400"/>
              </a:spcBef>
              <a:defRPr sz="1600">
                <a:solidFill>
                  <a:srgbClr val="3C281E"/>
                </a:solidFill>
              </a:defRPr>
            </a:pPr>
            <a:r>
              <a:t>• 在高速网络（IB）下失效</a:t>
            </a:r>
          </a:p>
          <a:p>
            <a:pPr>
              <a:spcBef>
                <a:spcPts val="400"/>
              </a:spcBef>
              <a:defRPr sz="1600">
                <a:solidFill>
                  <a:srgbClr val="3C281E"/>
                </a:solidFill>
              </a:defRPr>
            </a:pPr>
            <a:r>
              <a:t>• 预测误差高达 98.5%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18872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3C281E"/>
                </a:solidFill>
              </a:defRPr>
            </a:pPr>
            <a:r>
              <a:t>我们的方案:</a:t>
            </a:r>
          </a:p>
          <a:p>
            <a:pPr>
              <a:spcBef>
                <a:spcPts val="400"/>
              </a:spcBef>
              <a:defRPr sz="1600">
                <a:solidFill>
                  <a:srgbClr val="3C281E"/>
                </a:solidFill>
              </a:defRPr>
            </a:pPr>
            <a:r>
              <a:t>• 实时测量网络带宽</a:t>
            </a:r>
          </a:p>
          <a:p>
            <a:pPr>
              <a:spcBef>
                <a:spcPts val="400"/>
              </a:spcBef>
              <a:defRPr sz="1600">
                <a:solidFill>
                  <a:srgbClr val="3C281E"/>
                </a:solidFill>
              </a:defRPr>
            </a:pPr>
            <a:r>
              <a:t>• 动态调整惩罚系数</a:t>
            </a:r>
          </a:p>
          <a:p>
            <a:pPr>
              <a:spcBef>
                <a:spcPts val="400"/>
              </a:spcBef>
              <a:defRPr sz="1600">
                <a:solidFill>
                  <a:srgbClr val="3C281E"/>
                </a:solidFill>
              </a:defRPr>
            </a:pPr>
            <a:r>
              <a:t>• 支持多种网络类型</a:t>
            </a:r>
          </a:p>
          <a:p>
            <a:pPr>
              <a:spcBef>
                <a:spcPts val="400"/>
              </a:spcBef>
              <a:defRPr sz="1600">
                <a:solidFill>
                  <a:srgbClr val="3C281E"/>
                </a:solidFill>
              </a:defRPr>
            </a:pPr>
            <a:r>
              <a:t>• 误差降至 11.48%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B48C50"/>
                </a:solidFill>
              </a:defRPr>
            </a:pPr>
            <a:r>
              <a:t>实验结果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C281E"/>
                </a:solidFill>
              </a:defRPr>
            </a:pPr>
            <a:r>
              <a:t>核心指标: 功耗节省超过 20%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508C50"/>
                </a:solidFill>
              </a:defRPr>
            </a:pPr>
            <a:r>
              <a:t>平均功耗节省 24-35%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C281E"/>
                </a:solidFill>
              </a:defRPr>
            </a:pPr>
            <a:r>
              <a:t>实验配置: V100 GPU + Qwen2.5-7B + InfiniBand HDR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C281E"/>
                </a:solidFill>
              </a:defRPr>
            </a:pPr>
            <a:r>
              <a:t>详细数据: 不同拓扑的能效对比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3716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拓扑</a:t>
                      </a:r>
                    </a:p>
                  </a:txBody>
                  <a:tcPr>
                    <a:solidFill>
                      <a:srgbClr val="B48C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基线功率</a:t>
                      </a:r>
                    </a:p>
                  </a:txBody>
                  <a:tcPr>
                    <a:solidFill>
                      <a:srgbClr val="B48C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优化频点</a:t>
                      </a:r>
                    </a:p>
                  </a:txBody>
                  <a:tcPr>
                    <a:solidFill>
                      <a:srgbClr val="B48C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优化后功率</a:t>
                      </a:r>
                    </a:p>
                  </a:txBody>
                  <a:tcPr>
                    <a:solidFill>
                      <a:srgbClr val="B48C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节省</a:t>
                      </a:r>
                    </a:p>
                  </a:txBody>
                  <a:tcPr>
                    <a:solidFill>
                      <a:srgbClr val="B48C5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TP=1, PP=4, DP=4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3170.6 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1252-1267 MHz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2407.7 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508C50"/>
                          </a:solidFill>
                        </a:defRPr>
                      </a:pPr>
                      <a:r>
                        <a:t>24%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TP=2, PP=2, DP=4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3686.1 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1072-1125 MHz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2477.3 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508C5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TP=4, PP=1, DP=4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3613.0 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1080-1155 MHz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2363.6 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508C5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C281E"/>
                </a:solidFill>
              </a:defRPr>
            </a:pPr>
            <a:r>
              <a:t>预测准确性: 从 98.5% 到 11.48%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3C281E"/>
                </a:solidFill>
              </a:defRPr>
            </a:pPr>
            <a:r>
              <a:t>修复前（固定系数）:</a:t>
            </a:r>
          </a:p>
          <a:p>
            <a:pPr>
              <a:spcBef>
                <a:spcPts val="400"/>
              </a:spcBef>
              <a:defRPr sz="1600">
                <a:solidFill>
                  <a:srgbClr val="3C281E"/>
                </a:solidFill>
              </a:defRPr>
            </a:pPr>
            <a:r>
              <a:t>• 时间预测误差: 98.5%</a:t>
            </a:r>
          </a:p>
          <a:p>
            <a:pPr>
              <a:spcBef>
                <a:spcPts val="400"/>
              </a:spcBef>
              <a:defRPr sz="1600">
                <a:solidFill>
                  <a:srgbClr val="3C281E"/>
                </a:solidFill>
              </a:defRPr>
            </a:pPr>
            <a:r>
              <a:t>• 严重高估跨节点开销</a:t>
            </a:r>
          </a:p>
          <a:p>
            <a:pPr>
              <a:spcBef>
                <a:spcPts val="400"/>
              </a:spcBef>
              <a:defRPr sz="1600">
                <a:solidFill>
                  <a:srgbClr val="3C281E"/>
                </a:solidFill>
              </a:defRPr>
            </a:pPr>
            <a:r>
              <a:t>• 不适用于高速网络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18872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3C281E"/>
                </a:solidFill>
              </a:defRPr>
            </a:pPr>
            <a:r>
              <a:t>修复后（网络感知）:</a:t>
            </a:r>
          </a:p>
          <a:p>
            <a:pPr>
              <a:spcBef>
                <a:spcPts val="400"/>
              </a:spcBef>
              <a:defRPr sz="1600">
                <a:solidFill>
                  <a:srgbClr val="3C281E"/>
                </a:solidFill>
              </a:defRPr>
            </a:pPr>
            <a:r>
              <a:t>• 时间预测误差: 11.48%</a:t>
            </a:r>
          </a:p>
          <a:p>
            <a:pPr>
              <a:spcBef>
                <a:spcPts val="400"/>
              </a:spcBef>
              <a:defRPr sz="1600">
                <a:solidFill>
                  <a:srgbClr val="3C281E"/>
                </a:solidFill>
              </a:defRPr>
            </a:pPr>
            <a:r>
              <a:t>• 准确识别网络特性</a:t>
            </a:r>
          </a:p>
          <a:p>
            <a:pPr>
              <a:spcBef>
                <a:spcPts val="400"/>
              </a:spcBef>
              <a:defRPr sz="1600">
                <a:solidFill>
                  <a:srgbClr val="3C281E"/>
                </a:solidFill>
              </a:defRPr>
            </a:pPr>
            <a:r>
              <a:t>• 支持多网络类型</a:t>
            </a:r>
          </a:p>
          <a:p>
            <a:pPr>
              <a:spcBef>
                <a:spcPts val="400"/>
              </a:spcBef>
              <a:defRPr sz="1600">
                <a:solidFill>
                  <a:srgbClr val="3C281E"/>
                </a:solidFill>
              </a:defRPr>
            </a:pPr>
            <a:r>
              <a:t>• 实现零样本优化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B48C50"/>
                </a:solidFill>
              </a:defRPr>
            </a:pPr>
            <a:r>
              <a:t>应用价值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C281E"/>
                </a:solidFill>
              </a:defRPr>
            </a:pPr>
            <a:r>
              <a:t>成本节省估算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508C50"/>
                </a:solidFill>
              </a:defRPr>
            </a:pPr>
            <a:r>
              <a:t>单次训练节省 6,480 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C281E"/>
                </a:solidFill>
              </a:defRPr>
            </a:pPr>
            <a:r>
              <a:t>以 100 卡集群训练 30 天为例，年化节省 77,760 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C281E"/>
                </a:solidFill>
              </a:defRPr>
            </a:pPr>
            <a:r>
              <a:t>落地场景与扩展性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2000">
                <a:solidFill>
                  <a:srgbClr val="3C281E"/>
                </a:solidFill>
              </a:defRPr>
            </a:pPr>
            <a:r>
              <a:t>• 适用场景: 企业 AI 训练集群、云 GPU 实例、超算中心、边缘节点</a:t>
            </a:r>
          </a:p>
          <a:p>
            <a:pPr>
              <a:spcBef>
                <a:spcPts val="800"/>
              </a:spcBef>
              <a:defRPr sz="2000">
                <a:solidFill>
                  <a:srgbClr val="3C281E"/>
                </a:solidFill>
              </a:defRPr>
            </a:pPr>
            <a:r>
              <a:t>• 部署要求: NVIDIA GPU (V100/A100/H100)、NVML 支持、DeepSpeed/PyTorch</a:t>
            </a:r>
          </a:p>
          <a:p>
            <a:pPr>
              <a:spcBef>
                <a:spcPts val="800"/>
              </a:spcBef>
              <a:defRPr sz="2000">
                <a:solidFill>
                  <a:srgbClr val="3C281E"/>
                </a:solidFill>
              </a:defRPr>
            </a:pPr>
            <a:r>
              <a:t>• 扩展路线: 网络层 (IB→RoCE→以太网)、拓扑层 (2×4→2×8→4×8)、硬件层 (V100→A100→H100)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B48C50"/>
                </a:solidFill>
              </a:defRPr>
            </a:pPr>
            <a:r>
              <a:t>总结与展望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C281E"/>
                </a:solidFill>
              </a:defRPr>
            </a:pPr>
            <a:r>
              <a:t>核心成果总结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4114800" cy="2286000"/>
          </a:xfrm>
          <a:prstGeom prst="rect">
            <a:avLst/>
          </a:prstGeom>
          <a:solidFill>
            <a:srgbClr val="F0F5F0"/>
          </a:solidFill>
          <a:ln>
            <a:solidFill>
              <a:srgbClr val="508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508C50"/>
                </a:solidFill>
              </a:defRPr>
            </a:pPr>
            <a:r>
              <a:t>20%+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C281E"/>
                </a:solidFill>
              </a:defRPr>
            </a:pPr>
            <a:r>
              <a:t>功耗节省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C281E"/>
                </a:solidFill>
              </a:defRPr>
            </a:pPr>
            <a:r>
              <a:t>所有测试拓扑均达标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80" y="1828800"/>
            <a:ext cx="4114800" cy="2286000"/>
          </a:xfrm>
          <a:prstGeom prst="rect">
            <a:avLst/>
          </a:prstGeom>
          <a:solidFill>
            <a:srgbClr val="F0F5F0"/>
          </a:solidFill>
          <a:ln>
            <a:solidFill>
              <a:srgbClr val="508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201168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508C50"/>
                </a:solidFill>
              </a:defRPr>
            </a:pPr>
            <a:r>
              <a:t>11.48%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9260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C281E"/>
                </a:solidFill>
              </a:defRPr>
            </a:pPr>
            <a:r>
              <a:t>预测误差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36576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C281E"/>
                </a:solidFill>
              </a:defRPr>
            </a:pPr>
            <a:r>
              <a:t>网络感知模型高精度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66960" y="1828800"/>
            <a:ext cx="4114800" cy="2286000"/>
          </a:xfrm>
          <a:prstGeom prst="rect">
            <a:avLst/>
          </a:prstGeom>
          <a:solidFill>
            <a:srgbClr val="F0F5F0"/>
          </a:solidFill>
          <a:ln>
            <a:solidFill>
              <a:srgbClr val="508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0" y="201168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508C50"/>
                </a:solidFill>
              </a:defRPr>
            </a:pPr>
            <a:r>
              <a:t>1700×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29260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C281E"/>
                </a:solidFill>
              </a:defRPr>
            </a:pPr>
            <a:r>
              <a:t>系数优化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36576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C281E"/>
                </a:solidFill>
              </a:defRPr>
            </a:pPr>
            <a:r>
              <a:t>动态适配多网络类型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3C281E"/>
                </a:solidFill>
              </a:defRPr>
            </a:pPr>
            <a:r>
              <a:t>• 首创动态网络感知跨节点性能预测框架</a:t>
            </a:r>
          </a:p>
          <a:p>
            <a:pPr>
              <a:spcBef>
                <a:spcPts val="800"/>
              </a:spcBef>
              <a:defRPr sz="1800">
                <a:solidFill>
                  <a:srgbClr val="3C281E"/>
                </a:solidFill>
              </a:defRPr>
            </a:pPr>
            <a:r>
              <a:t>• 预测精度飞跃：98.5% → 11.48%</a:t>
            </a:r>
          </a:p>
          <a:p>
            <a:pPr>
              <a:spcBef>
                <a:spcPts val="800"/>
              </a:spcBef>
              <a:defRPr sz="1800">
                <a:solidFill>
                  <a:srgbClr val="3C281E"/>
                </a:solidFill>
              </a:defRPr>
            </a:pPr>
            <a:r>
              <a:t>• 支持零样本频率优化，实验成本降低 50%+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C281E"/>
                </a:solidFill>
              </a:defRPr>
            </a:pPr>
            <a:r>
              <a:t>下一步工作计划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2000">
                <a:solidFill>
                  <a:srgbClr val="3C281E"/>
                </a:solidFill>
              </a:defRPr>
            </a:pPr>
            <a:r>
              <a:t>• 近期（1-2 个月）: RoCE 环境验证、论文投稿（MLSys/SC/IPDPS）、开源代码发布</a:t>
            </a:r>
          </a:p>
          <a:p>
            <a:pPr>
              <a:spcBef>
                <a:spcPts val="800"/>
              </a:spcBef>
              <a:defRPr sz="2000">
                <a:solidFill>
                  <a:srgbClr val="3C281E"/>
                </a:solidFill>
              </a:defRPr>
            </a:pPr>
            <a:r>
              <a:t>• 中期（3-6 个月）: A100/H100 适配、更大规模验证（32-64 卡）、自动化部署工具</a:t>
            </a:r>
          </a:p>
          <a:p>
            <a:pPr>
              <a:spcBef>
                <a:spcPts val="800"/>
              </a:spcBef>
              <a:defRPr sz="2000">
                <a:solidFill>
                  <a:srgbClr val="3C281E"/>
                </a:solidFill>
              </a:defRPr>
            </a:pPr>
            <a:r>
              <a:t>• 长期（6-12 个月）: 多租户场景优化、异构集群支持、云服务集成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3C281E"/>
                </a:solidFill>
              </a:defRPr>
            </a:pPr>
            <a:r>
              <a:t>谢谢!</a:t>
            </a:r>
          </a:p>
          <a:p>
            <a:pPr algn="ctr">
              <a:spcBef>
                <a:spcPts val="2000"/>
              </a:spcBef>
              <a:defRPr sz="3200">
                <a:solidFill>
                  <a:srgbClr val="B48C50"/>
                </a:solidFill>
              </a:defRPr>
            </a:pPr>
            <a:r>
              <a:t>问答环节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800"/>
              </a:spcBef>
              <a:defRPr sz="1600">
                <a:solidFill>
                  <a:srgbClr val="3C281E"/>
                </a:solidFill>
              </a:defRPr>
            </a:pPr>
            <a:r>
              <a:t>项目地址: github.com/[org]/Megatron-DeepSpeed</a:t>
            </a:r>
          </a:p>
          <a:p>
            <a:pPr algn="ctr">
              <a:spcBef>
                <a:spcPts val="800"/>
              </a:spcBef>
              <a:defRPr sz="1600">
                <a:solidFill>
                  <a:srgbClr val="3C281E"/>
                </a:solidFill>
              </a:defRPr>
            </a:pPr>
            <a:r>
              <a:t>联系邮箱: [email@example.com]</a:t>
            </a:r>
          </a:p>
          <a:p>
            <a:pPr algn="ctr">
              <a:spcBef>
                <a:spcPts val="800"/>
              </a:spcBef>
              <a:defRPr sz="1600">
                <a:solidFill>
                  <a:srgbClr val="3C281E"/>
                </a:solidFill>
              </a:defRPr>
            </a:pPr>
            <a:r>
              <a:t>技术文档: memory-bank/ &amp; .context/paper/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

<file path=[Content_Types].xml><?xml version="1.0" encoding="utf-8"?>
<Types xmlns="http://schemas.openxmlformats.org/package/2006/content-types">
  <Default Extension="jpeg" ContentType="image/jpeg"/>
  <Default Extension="JPG" ContentType="image/.jpg"/>
  <Default Extension="xlsx" ContentType="application/vnd.openxmlformats-officedocument.spreadsheetml.sheet"/>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_rels/chart3.xml.rels><?xml version="1.0" encoding="UTF-8" standalone="yes"?>
<Relationships xmlns="http://schemas.openxmlformats.org/package/2006/relationships"><Relationship Id="rId1" Type="http://schemas.openxmlformats.org/officeDocument/2006/relationships/package" Target="../embeddings/Workbook3.xlsx"/></Relationships>
</file>

<file path=ppt/charts/_rels/chart4.xml.rels><?xml version="1.0" encoding="UTF-8" standalone="yes"?>
<Relationships xmlns="http://schemas.openxmlformats.org/package/2006/relationships"><Relationship Id="rId1" Type="http://schemas.openxmlformats.org/officeDocument/2006/relationships/package" Target="../embeddings/Workbook4.xlsx"/></Relationships>
</file>

<file path=ppt/charts/_rels/chart5.xml.rels><?xml version="1.0" encoding="UTF-8" standalone="yes"?>
<Relationships xmlns="http://schemas.openxmlformats.org/package/2006/relationships"><Relationship Id="rId1" Type="http://schemas.openxmlformats.org/officeDocument/2006/relationships/package" Target="../embeddings/Workbook5.xlsx"/></Relationships>
</file>

<file path=ppt/charts/_rels/chart6.xml.rels><?xml version="1.0" encoding="UTF-8" standalone="yes"?>
<Relationships xmlns="http://schemas.openxmlformats.org/package/2006/relationships"><Relationship Id="rId1" Type="http://schemas.openxmlformats.org/officeDocument/2006/relationships/package" Target="../embeddings/Workbook6.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ΔTime</c:v>
                </c:pt>
              </c:strCache>
            </c:strRef>
          </c:tx>
          <c:spPr>
            <a:solidFill>
              <a:srgbClr val="34568B"/>
            </a:solidFill>
            <a:ln>
              <a:solidFill>
                <a:srgbClr val="34568B"/>
              </a:solidFill>
            </a:ln>
          </c:spPr>
          <c:invertIfNegative val="0"/>
          <c:dLbls>
            <c:delete val="1"/>
          </c:dLbls>
          <c:cat>
            <c:strRef>
              <c:f>Sheet1!$A$2:$A$4</c:f>
              <c:strCache>
                <c:ptCount val="3"/>
                <c:pt idx="0">
                  <c:v>1252 MHz</c:v>
                </c:pt>
                <c:pt idx="1">
                  <c:v>1260 MHz</c:v>
                </c:pt>
                <c:pt idx="2">
                  <c:v>1267 MHz</c:v>
                </c:pt>
              </c:strCache>
            </c:strRef>
          </c:cat>
          <c:val>
            <c:numRef>
              <c:f>Sheet1!$B$2:$B$4</c:f>
              <c:numCache>
                <c:formatCode>General</c:formatCode>
                <c:ptCount val="3"/>
                <c:pt idx="0">
                  <c:v>-1.26072757651706</c:v>
                </c:pt>
                <c:pt idx="1">
                  <c:v>-2.18728639781271</c:v>
                </c:pt>
                <c:pt idx="2">
                  <c:v>-2.30880230880232</c:v>
                </c:pt>
              </c:numCache>
            </c:numRef>
          </c:val>
        </c:ser>
        <c:ser>
          <c:idx val="1"/>
          <c:order val="1"/>
          <c:tx>
            <c:strRef>
              <c:f>Sheet1!$C$1</c:f>
              <c:strCache>
                <c:ptCount val="1"/>
                <c:pt idx="0">
                  <c:v>ΔPower</c:v>
                </c:pt>
              </c:strCache>
            </c:strRef>
          </c:tx>
          <c:spPr>
            <a:solidFill>
              <a:srgbClr val="24795D"/>
            </a:solidFill>
            <a:ln>
              <a:solidFill>
                <a:srgbClr val="24795D"/>
              </a:solidFill>
            </a:ln>
          </c:spPr>
          <c:invertIfNegative val="0"/>
          <c:dLbls>
            <c:delete val="1"/>
          </c:dLbls>
          <c:cat>
            <c:strRef>
              <c:f>Sheet1!$A$2:$A$4</c:f>
              <c:strCache>
                <c:ptCount val="3"/>
                <c:pt idx="0">
                  <c:v>1252 MHz</c:v>
                </c:pt>
                <c:pt idx="1">
                  <c:v>1260 MHz</c:v>
                </c:pt>
                <c:pt idx="2">
                  <c:v>1267 MHz</c:v>
                </c:pt>
              </c:strCache>
            </c:strRef>
          </c:cat>
          <c:val>
            <c:numRef>
              <c:f>Sheet1!$C$2:$C$4</c:f>
              <c:numCache>
                <c:formatCode>General</c:formatCode>
                <c:ptCount val="3"/>
                <c:pt idx="0">
                  <c:v>-25.3169747051031</c:v>
                </c:pt>
                <c:pt idx="1">
                  <c:v>-24.8722639248092</c:v>
                </c:pt>
                <c:pt idx="2">
                  <c:v>-24.0616917933514</c:v>
                </c:pt>
              </c:numCache>
            </c:numRef>
          </c:val>
        </c:ser>
        <c:ser>
          <c:idx val="2"/>
          <c:order val="2"/>
          <c:tx>
            <c:strRef>
              <c:f>Sheet1!$D$1</c:f>
              <c:strCache>
                <c:ptCount val="1"/>
                <c:pt idx="0">
                  <c:v>ΔEnergy</c:v>
                </c:pt>
              </c:strCache>
            </c:strRef>
          </c:tx>
          <c:spPr>
            <a:solidFill>
              <a:srgbClr val="A85C2C"/>
            </a:solidFill>
            <a:ln>
              <a:solidFill>
                <a:srgbClr val="A85C2C"/>
              </a:solidFill>
            </a:ln>
          </c:spPr>
          <c:invertIfNegative val="0"/>
          <c:dLbls>
            <c:delete val="1"/>
          </c:dLbls>
          <c:cat>
            <c:strRef>
              <c:f>Sheet1!$A$2:$A$4</c:f>
              <c:strCache>
                <c:ptCount val="3"/>
                <c:pt idx="0">
                  <c:v>1252 MHz</c:v>
                </c:pt>
                <c:pt idx="1">
                  <c:v>1260 MHz</c:v>
                </c:pt>
                <c:pt idx="2">
                  <c:v>1267 MHz</c:v>
                </c:pt>
              </c:strCache>
            </c:strRef>
          </c:cat>
          <c:val>
            <c:numRef>
              <c:f>Sheet1!$D$2:$D$4</c:f>
              <c:numCache>
                <c:formatCode>General</c:formatCode>
                <c:ptCount val="3"/>
                <c:pt idx="0">
                  <c:v>-26.2538783700792</c:v>
                </c:pt>
                <c:pt idx="1">
                  <c:v>-26.5123828775713</c:v>
                </c:pt>
                <c:pt idx="2">
                  <c:v>-25.8135516477471</c:v>
                </c:pt>
              </c:numCache>
            </c:numRef>
          </c:val>
        </c:ser>
        <c:dLbls>
          <c:showLegendKey val="0"/>
          <c:showVal val="0"/>
          <c:showCatName val="0"/>
          <c:showSerName val="0"/>
          <c:showPercent val="0"/>
          <c:showBubbleSize val="0"/>
        </c:dLbls>
        <c:gapWidth val="70"/>
        <c:axId val="-2068027336"/>
        <c:axId val="-2113994440"/>
      </c:barChart>
      <c:catAx>
        <c:axId val="-2068027336"/>
        <c:scaling>
          <c:orientation val="minMax"/>
        </c:scaling>
        <c:delete val="0"/>
        <c:axPos val="b"/>
        <c:majorTickMark val="out"/>
        <c:minorTickMark val="none"/>
        <c:tickLblPos val="nextTo"/>
        <c:txPr>
          <a:bodyPr rot="-60000000" spcFirstLastPara="0" vertOverflow="ellipsis" vert="horz" wrap="square" anchor="ctr" anchorCtr="1"/>
          <a:lstStyle/>
          <a:p>
            <a:pPr>
              <a:defRPr lang="zh-CN" sz="10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max val="5"/>
          <c:min val="-35"/>
        </c:scaling>
        <c:delete val="0"/>
        <c:axPos val="l"/>
        <c:majorGridlines/>
        <c:numFmt formatCode="0.0&quot;%&quot;" sourceLinked="0"/>
        <c:majorTickMark val="out"/>
        <c:minorTickMark val="none"/>
        <c:tickLblPos val="nextTo"/>
        <c:txPr>
          <a:bodyPr rot="-60000000" spcFirstLastPara="0" vertOverflow="ellipsis" vert="horz" wrap="square" anchor="ctr" anchorCtr="1"/>
          <a:lstStyle/>
          <a:p>
            <a:pPr>
              <a:defRPr lang="zh-CN" sz="900" b="0" i="0" u="none" strike="noStrike" kern="1200" baseline="0">
                <a:solidFill>
                  <a:schemeClr val="tx1"/>
                </a:solidFill>
                <a:latin typeface="+mn-lt"/>
                <a:ea typeface="+mn-ea"/>
                <a:cs typeface="+mn-cs"/>
              </a:defRPr>
            </a:pPr>
          </a:p>
        </c:txPr>
        <c:crossAx val="-2068027336"/>
        <c:crosses val="autoZero"/>
        <c:crossBetween val="between"/>
      </c:valAx>
    </c:plotArea>
    <c:legend>
      <c:legendPos val="b"/>
      <c:layout/>
      <c:overlay val="0"/>
      <c:txPr>
        <a:bodyPr rot="0" spcFirstLastPara="0" vertOverflow="ellipsis" vert="horz" wrap="square" anchor="ctr" anchorCtr="1"/>
        <a:lstStyle/>
        <a:p>
          <a:pPr>
            <a:defRPr lang="zh-CN" sz="18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0ac67c67-3017-4e3b-a033-4de318ae5422}"/>
      </c:ext>
    </c:extLst>
  </c:chart>
  <c:txPr>
    <a:bodyPr/>
    <a:lstStyle/>
    <a:p>
      <a:pPr>
        <a:defRPr lang="zh-CN" sz="1800"/>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ΔTime</c:v>
                </c:pt>
              </c:strCache>
            </c:strRef>
          </c:tx>
          <c:spPr>
            <a:solidFill>
              <a:srgbClr val="34568B"/>
            </a:solidFill>
            <a:ln>
              <a:solidFill>
                <a:srgbClr val="34568B"/>
              </a:solidFill>
            </a:ln>
          </c:spPr>
          <c:invertIfNegative val="0"/>
          <c:dLbls>
            <c:delete val="1"/>
          </c:dLbls>
          <c:cat>
            <c:strRef>
              <c:f>Sheet1!$A$2:$A$5</c:f>
              <c:strCache>
                <c:ptCount val="4"/>
                <c:pt idx="0">
                  <c:v>1072 MHz</c:v>
                </c:pt>
                <c:pt idx="1">
                  <c:v>1080 MHz</c:v>
                </c:pt>
                <c:pt idx="2">
                  <c:v>1087 MHz</c:v>
                </c:pt>
                <c:pt idx="3">
                  <c:v>1125 MHz</c:v>
                </c:pt>
              </c:strCache>
            </c:strRef>
          </c:cat>
          <c:val>
            <c:numRef>
              <c:f>Sheet1!$B$2:$B$5</c:f>
              <c:numCache>
                <c:formatCode>General</c:formatCode>
                <c:ptCount val="4"/>
                <c:pt idx="0">
                  <c:v>2.23170968367941</c:v>
                </c:pt>
                <c:pt idx="1">
                  <c:v>1.5039782650883</c:v>
                </c:pt>
                <c:pt idx="2">
                  <c:v>0.912090044634203</c:v>
                </c:pt>
                <c:pt idx="3">
                  <c:v>-2.37725596739762</c:v>
                </c:pt>
              </c:numCache>
            </c:numRef>
          </c:val>
        </c:ser>
        <c:ser>
          <c:idx val="1"/>
          <c:order val="1"/>
          <c:tx>
            <c:strRef>
              <c:f>Sheet1!$C$1</c:f>
              <c:strCache>
                <c:ptCount val="1"/>
                <c:pt idx="0">
                  <c:v>ΔPower</c:v>
                </c:pt>
              </c:strCache>
            </c:strRef>
          </c:tx>
          <c:spPr>
            <a:solidFill>
              <a:srgbClr val="24795D"/>
            </a:solidFill>
            <a:ln>
              <a:solidFill>
                <a:srgbClr val="24795D"/>
              </a:solidFill>
            </a:ln>
          </c:spPr>
          <c:invertIfNegative val="0"/>
          <c:dLbls>
            <c:delete val="1"/>
          </c:dLbls>
          <c:cat>
            <c:strRef>
              <c:f>Sheet1!$A$2:$A$5</c:f>
              <c:strCache>
                <c:ptCount val="4"/>
                <c:pt idx="0">
                  <c:v>1072 MHz</c:v>
                </c:pt>
                <c:pt idx="1">
                  <c:v>1080 MHz</c:v>
                </c:pt>
                <c:pt idx="2">
                  <c:v>1087 MHz</c:v>
                </c:pt>
                <c:pt idx="3">
                  <c:v>1125 MHz</c:v>
                </c:pt>
              </c:strCache>
            </c:strRef>
          </c:cat>
          <c:val>
            <c:numRef>
              <c:f>Sheet1!$C$2:$C$5</c:f>
              <c:numCache>
                <c:formatCode>General</c:formatCode>
                <c:ptCount val="4"/>
                <c:pt idx="0">
                  <c:v>-36.2524076937685</c:v>
                </c:pt>
                <c:pt idx="1">
                  <c:v>-35.9078701066167</c:v>
                </c:pt>
                <c:pt idx="2">
                  <c:v>-35.2540625593446</c:v>
                </c:pt>
                <c:pt idx="3">
                  <c:v>-32.793467350316</c:v>
                </c:pt>
              </c:numCache>
            </c:numRef>
          </c:val>
        </c:ser>
        <c:ser>
          <c:idx val="2"/>
          <c:order val="2"/>
          <c:tx>
            <c:strRef>
              <c:f>Sheet1!$D$1</c:f>
              <c:strCache>
                <c:ptCount val="1"/>
                <c:pt idx="0">
                  <c:v>ΔEnergy</c:v>
                </c:pt>
              </c:strCache>
            </c:strRef>
          </c:tx>
          <c:spPr>
            <a:solidFill>
              <a:srgbClr val="A85C2C"/>
            </a:solidFill>
            <a:ln>
              <a:solidFill>
                <a:srgbClr val="A85C2C"/>
              </a:solidFill>
            </a:ln>
          </c:spPr>
          <c:invertIfNegative val="0"/>
          <c:dLbls>
            <c:delete val="1"/>
          </c:dLbls>
          <c:cat>
            <c:strRef>
              <c:f>Sheet1!$A$2:$A$5</c:f>
              <c:strCache>
                <c:ptCount val="4"/>
                <c:pt idx="0">
                  <c:v>1072 MHz</c:v>
                </c:pt>
                <c:pt idx="1">
                  <c:v>1080 MHz</c:v>
                </c:pt>
                <c:pt idx="2">
                  <c:v>1087 MHz</c:v>
                </c:pt>
                <c:pt idx="3">
                  <c:v>1125 MHz</c:v>
                </c:pt>
              </c:strCache>
            </c:strRef>
          </c:cat>
          <c:val>
            <c:numRef>
              <c:f>Sheet1!$D$2:$D$5</c:f>
              <c:numCache>
                <c:formatCode>General</c:formatCode>
                <c:ptCount val="4"/>
                <c:pt idx="0">
                  <c:v>-34.8274862869652</c:v>
                </c:pt>
                <c:pt idx="1">
                  <c:v>-34.9418324307133</c:v>
                </c:pt>
                <c:pt idx="2">
                  <c:v>-34.6639575342761</c:v>
                </c:pt>
                <c:pt idx="3">
                  <c:v>-34.3877752313707</c:v>
                </c:pt>
              </c:numCache>
            </c:numRef>
          </c:val>
        </c:ser>
        <c:dLbls>
          <c:showLegendKey val="0"/>
          <c:showVal val="0"/>
          <c:showCatName val="0"/>
          <c:showSerName val="0"/>
          <c:showPercent val="0"/>
          <c:showBubbleSize val="0"/>
        </c:dLbls>
        <c:gapWidth val="70"/>
        <c:axId val="-2068027336"/>
        <c:axId val="-2113994440"/>
      </c:barChart>
      <c:catAx>
        <c:axId val="-2068027336"/>
        <c:scaling>
          <c:orientation val="minMax"/>
        </c:scaling>
        <c:delete val="0"/>
        <c:axPos val="b"/>
        <c:majorTickMark val="out"/>
        <c:minorTickMark val="none"/>
        <c:tickLblPos val="nextTo"/>
        <c:txPr>
          <a:bodyPr rot="-60000000" spcFirstLastPara="0" vertOverflow="ellipsis" vert="horz" wrap="square" anchor="ctr" anchorCtr="1"/>
          <a:lstStyle/>
          <a:p>
            <a:pPr>
              <a:defRPr lang="zh-CN" sz="10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max val="10"/>
          <c:min val="-45"/>
        </c:scaling>
        <c:delete val="0"/>
        <c:axPos val="l"/>
        <c:majorGridlines/>
        <c:numFmt formatCode="0.0&quot;%&quot;" sourceLinked="0"/>
        <c:majorTickMark val="out"/>
        <c:minorTickMark val="none"/>
        <c:tickLblPos val="nextTo"/>
        <c:txPr>
          <a:bodyPr rot="-60000000" spcFirstLastPara="0" vertOverflow="ellipsis" vert="horz" wrap="square" anchor="ctr" anchorCtr="1"/>
          <a:lstStyle/>
          <a:p>
            <a:pPr>
              <a:defRPr lang="zh-CN" sz="900" b="0" i="0" u="none" strike="noStrike" kern="1200" baseline="0">
                <a:solidFill>
                  <a:schemeClr val="tx1"/>
                </a:solidFill>
                <a:latin typeface="+mn-lt"/>
                <a:ea typeface="+mn-ea"/>
                <a:cs typeface="+mn-cs"/>
              </a:defRPr>
            </a:pPr>
          </a:p>
        </c:txPr>
        <c:crossAx val="-2068027336"/>
        <c:crosses val="autoZero"/>
        <c:crossBetween val="between"/>
      </c:valAx>
    </c:plotArea>
    <c:legend>
      <c:legendPos val="b"/>
      <c:layout/>
      <c:overlay val="0"/>
      <c:txPr>
        <a:bodyPr rot="0" spcFirstLastPara="0" vertOverflow="ellipsis" vert="horz" wrap="square" anchor="ctr" anchorCtr="1"/>
        <a:lstStyle/>
        <a:p>
          <a:pPr>
            <a:defRPr lang="zh-CN" sz="18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692d07ad-639a-457d-ab72-da5158358daa}"/>
      </c:ext>
    </c:extLst>
  </c:chart>
  <c:txPr>
    <a:bodyPr/>
    <a:lstStyle/>
    <a:p>
      <a:pPr>
        <a:defRPr lang="zh-CN" sz="1800"/>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Observed</c:v>
                </c:pt>
              </c:strCache>
            </c:strRef>
          </c:tx>
          <c:spPr>
            <a:solidFill>
              <a:srgbClr val="34568B"/>
            </a:solidFill>
            <a:ln>
              <a:solidFill>
                <a:srgbClr val="34568B"/>
              </a:solidFill>
            </a:ln>
          </c:spPr>
          <c:invertIfNegative val="0"/>
          <c:dLbls>
            <c:delete val="1"/>
          </c:dLbls>
          <c:cat>
            <c:strRef>
              <c:f>Sheet1!$A$2:$A$4</c:f>
              <c:strCache>
                <c:ptCount val="3"/>
                <c:pt idx="0">
                  <c:v>990 MHz</c:v>
                </c:pt>
                <c:pt idx="1">
                  <c:v>1080 MHz</c:v>
                </c:pt>
                <c:pt idx="2">
                  <c:v>1155 MHz</c:v>
                </c:pt>
              </c:strCache>
            </c:strRef>
          </c:cat>
          <c:val>
            <c:numRef>
              <c:f>Sheet1!$B$2:$B$4</c:f>
              <c:numCache>
                <c:formatCode>General</c:formatCode>
                <c:ptCount val="3"/>
                <c:pt idx="0">
                  <c:v>401.19</c:v>
                </c:pt>
                <c:pt idx="1">
                  <c:v>372.24</c:v>
                </c:pt>
                <c:pt idx="2">
                  <c:v>351.53</c:v>
                </c:pt>
              </c:numCache>
            </c:numRef>
          </c:val>
        </c:ser>
        <c:ser>
          <c:idx val="1"/>
          <c:order val="1"/>
          <c:tx>
            <c:strRef>
              <c:f>Sheet1!$C$1</c:f>
              <c:strCache>
                <c:ptCount val="1"/>
                <c:pt idx="0">
                  <c:v>Predicted</c:v>
                </c:pt>
              </c:strCache>
            </c:strRef>
          </c:tx>
          <c:spPr>
            <a:solidFill>
              <a:srgbClr val="A85C2C"/>
            </a:solidFill>
            <a:ln>
              <a:solidFill>
                <a:srgbClr val="A85C2C"/>
              </a:solidFill>
            </a:ln>
          </c:spPr>
          <c:invertIfNegative val="0"/>
          <c:dLbls>
            <c:delete val="1"/>
          </c:dLbls>
          <c:cat>
            <c:strRef>
              <c:f>Sheet1!$A$2:$A$4</c:f>
              <c:strCache>
                <c:ptCount val="3"/>
                <c:pt idx="0">
                  <c:v>990 MHz</c:v>
                </c:pt>
                <c:pt idx="1">
                  <c:v>1080 MHz</c:v>
                </c:pt>
                <c:pt idx="2">
                  <c:v>1155 MHz</c:v>
                </c:pt>
              </c:strCache>
            </c:strRef>
          </c:cat>
          <c:val>
            <c:numRef>
              <c:f>Sheet1!$C$2:$C$4</c:f>
              <c:numCache>
                <c:formatCode>General</c:formatCode>
                <c:ptCount val="3"/>
                <c:pt idx="0">
                  <c:v>435.4</c:v>
                </c:pt>
                <c:pt idx="1">
                  <c:v>415.9</c:v>
                </c:pt>
                <c:pt idx="2">
                  <c:v>401.42</c:v>
                </c:pt>
              </c:numCache>
            </c:numRef>
          </c:val>
        </c:ser>
        <c:dLbls>
          <c:showLegendKey val="0"/>
          <c:showVal val="0"/>
          <c:showCatName val="0"/>
          <c:showSerName val="0"/>
          <c:showPercent val="0"/>
          <c:showBubbleSize val="0"/>
        </c:dLbls>
        <c:gapWidth val="70"/>
        <c:axId val="-2068027336"/>
        <c:axId val="-2113994440"/>
      </c:barChart>
      <c:catAx>
        <c:axId val="-2068027336"/>
        <c:scaling>
          <c:orientation val="minMax"/>
        </c:scaling>
        <c:delete val="0"/>
        <c:axPos val="b"/>
        <c:majorTickMark val="out"/>
        <c:minorTickMark val="none"/>
        <c:tickLblPos val="nextTo"/>
        <c:txPr>
          <a:bodyPr rot="-60000000" spcFirstLastPara="0" vertOverflow="ellipsis" vert="horz" wrap="square" anchor="ctr" anchorCtr="1"/>
          <a:lstStyle/>
          <a:p>
            <a:pPr>
              <a:defRPr lang="zh-CN" sz="10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scaling>
        <c:delete val="0"/>
        <c:axPos val="l"/>
        <c:majorGridlines/>
        <c:numFmt formatCode="0.0" sourceLinked="0"/>
        <c:majorTickMark val="out"/>
        <c:minorTickMark val="none"/>
        <c:tickLblPos val="nextTo"/>
        <c:txPr>
          <a:bodyPr rot="-60000000" spcFirstLastPara="0" vertOverflow="ellipsis" vert="horz" wrap="square" anchor="ctr" anchorCtr="1"/>
          <a:lstStyle/>
          <a:p>
            <a:pPr>
              <a:defRPr lang="zh-CN" sz="900" b="0" i="0" u="none" strike="noStrike" kern="1200" baseline="0">
                <a:solidFill>
                  <a:schemeClr val="tx1"/>
                </a:solidFill>
                <a:latin typeface="+mn-lt"/>
                <a:ea typeface="+mn-ea"/>
                <a:cs typeface="+mn-cs"/>
              </a:defRPr>
            </a:pPr>
          </a:p>
        </c:txPr>
        <c:crossAx val="-2068027336"/>
        <c:crosses val="autoZero"/>
        <c:crossBetween val="between"/>
      </c:valAx>
    </c:plotArea>
    <c:legend>
      <c:legendPos val="b"/>
      <c:layout/>
      <c:overlay val="0"/>
      <c:txPr>
        <a:bodyPr rot="0" spcFirstLastPara="0" vertOverflow="ellipsis" vert="horz" wrap="square" anchor="ctr" anchorCtr="1"/>
        <a:lstStyle/>
        <a:p>
          <a:pPr>
            <a:defRPr lang="zh-CN" sz="18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cba4be5b-d71b-4afb-91d6-57df48d3e3a6}"/>
      </c:ext>
    </c:extLst>
  </c:chart>
  <c:txPr>
    <a:bodyPr/>
    <a:lstStyle/>
    <a:p>
      <a:pPr>
        <a:defRPr lang="zh-CN" sz="1800"/>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Observed</c:v>
                </c:pt>
              </c:strCache>
            </c:strRef>
          </c:tx>
          <c:spPr>
            <a:solidFill>
              <a:srgbClr val="24795D"/>
            </a:solidFill>
            <a:ln>
              <a:solidFill>
                <a:srgbClr val="24795D"/>
              </a:solidFill>
            </a:ln>
          </c:spPr>
          <c:invertIfNegative val="0"/>
          <c:dLbls>
            <c:delete val="1"/>
          </c:dLbls>
          <c:cat>
            <c:strRef>
              <c:f>Sheet1!$A$2:$A$4</c:f>
              <c:strCache>
                <c:ptCount val="3"/>
                <c:pt idx="0">
                  <c:v>990 MHz</c:v>
                </c:pt>
                <c:pt idx="1">
                  <c:v>1080 MHz</c:v>
                </c:pt>
                <c:pt idx="2">
                  <c:v>1155 MHz</c:v>
                </c:pt>
              </c:strCache>
            </c:strRef>
          </c:cat>
          <c:val>
            <c:numRef>
              <c:f>Sheet1!$B$2:$B$4</c:f>
              <c:numCache>
                <c:formatCode>General</c:formatCode>
                <c:ptCount val="3"/>
                <c:pt idx="0">
                  <c:v>1189.17</c:v>
                </c:pt>
                <c:pt idx="1">
                  <c:v>1257.39</c:v>
                </c:pt>
                <c:pt idx="2">
                  <c:v>1353.14</c:v>
                </c:pt>
              </c:numCache>
            </c:numRef>
          </c:val>
        </c:ser>
        <c:ser>
          <c:idx val="1"/>
          <c:order val="1"/>
          <c:tx>
            <c:strRef>
              <c:f>Sheet1!$C$1</c:f>
              <c:strCache>
                <c:ptCount val="1"/>
                <c:pt idx="0">
                  <c:v>Predicted</c:v>
                </c:pt>
              </c:strCache>
            </c:strRef>
          </c:tx>
          <c:spPr>
            <a:solidFill>
              <a:srgbClr val="34568B"/>
            </a:solidFill>
            <a:ln>
              <a:solidFill>
                <a:srgbClr val="34568B"/>
              </a:solidFill>
            </a:ln>
          </c:spPr>
          <c:invertIfNegative val="0"/>
          <c:dLbls>
            <c:delete val="1"/>
          </c:dLbls>
          <c:cat>
            <c:strRef>
              <c:f>Sheet1!$A$2:$A$4</c:f>
              <c:strCache>
                <c:ptCount val="3"/>
                <c:pt idx="0">
                  <c:v>990 MHz</c:v>
                </c:pt>
                <c:pt idx="1">
                  <c:v>1080 MHz</c:v>
                </c:pt>
                <c:pt idx="2">
                  <c:v>1155 MHz</c:v>
                </c:pt>
              </c:strCache>
            </c:strRef>
          </c:cat>
          <c:val>
            <c:numRef>
              <c:f>Sheet1!$C$2:$C$4</c:f>
              <c:numCache>
                <c:formatCode>General</c:formatCode>
                <c:ptCount val="3"/>
                <c:pt idx="0">
                  <c:v>1128.43</c:v>
                </c:pt>
                <c:pt idx="1">
                  <c:v>1229.19</c:v>
                </c:pt>
                <c:pt idx="2">
                  <c:v>1319.64</c:v>
                </c:pt>
              </c:numCache>
            </c:numRef>
          </c:val>
        </c:ser>
        <c:dLbls>
          <c:showLegendKey val="0"/>
          <c:showVal val="0"/>
          <c:showCatName val="0"/>
          <c:showSerName val="0"/>
          <c:showPercent val="0"/>
          <c:showBubbleSize val="0"/>
        </c:dLbls>
        <c:gapWidth val="70"/>
        <c:axId val="-2068027336"/>
        <c:axId val="-2113994440"/>
      </c:barChart>
      <c:catAx>
        <c:axId val="-2068027336"/>
        <c:scaling>
          <c:orientation val="minMax"/>
        </c:scaling>
        <c:delete val="0"/>
        <c:axPos val="b"/>
        <c:majorTickMark val="out"/>
        <c:minorTickMark val="none"/>
        <c:tickLblPos val="nextTo"/>
        <c:txPr>
          <a:bodyPr rot="-60000000" spcFirstLastPara="0" vertOverflow="ellipsis" vert="horz" wrap="square" anchor="ctr" anchorCtr="1"/>
          <a:lstStyle/>
          <a:p>
            <a:pPr>
              <a:defRPr lang="zh-CN" sz="10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scaling>
        <c:delete val="0"/>
        <c:axPos val="l"/>
        <c:majorGridlines/>
        <c:numFmt formatCode="0" sourceLinked="0"/>
        <c:majorTickMark val="out"/>
        <c:minorTickMark val="none"/>
        <c:tickLblPos val="nextTo"/>
        <c:txPr>
          <a:bodyPr rot="-60000000" spcFirstLastPara="0" vertOverflow="ellipsis" vert="horz" wrap="square" anchor="ctr" anchorCtr="1"/>
          <a:lstStyle/>
          <a:p>
            <a:pPr>
              <a:defRPr lang="zh-CN" sz="900" b="0" i="0" u="none" strike="noStrike" kern="1200" baseline="0">
                <a:solidFill>
                  <a:schemeClr val="tx1"/>
                </a:solidFill>
                <a:latin typeface="+mn-lt"/>
                <a:ea typeface="+mn-ea"/>
                <a:cs typeface="+mn-cs"/>
              </a:defRPr>
            </a:pPr>
          </a:p>
        </c:txPr>
        <c:crossAx val="-2068027336"/>
        <c:crosses val="autoZero"/>
        <c:crossBetween val="between"/>
      </c:valAx>
    </c:plotArea>
    <c:legend>
      <c:legendPos val="b"/>
      <c:layout/>
      <c:overlay val="0"/>
      <c:txPr>
        <a:bodyPr rot="0" spcFirstLastPara="0" vertOverflow="ellipsis" vert="horz" wrap="square" anchor="ctr" anchorCtr="1"/>
        <a:lstStyle/>
        <a:p>
          <a:pPr>
            <a:defRPr lang="zh-CN" sz="18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dbb55932-cd5a-43e4-954d-a253a76dde72}"/>
      </c:ext>
    </c:extLst>
  </c:chart>
  <c:txPr>
    <a:bodyPr/>
    <a:lstStyle/>
    <a:p>
      <a:pPr>
        <a:defRPr lang="zh-CN" sz="18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Observed</c:v>
                </c:pt>
              </c:strCache>
            </c:strRef>
          </c:tx>
          <c:spPr>
            <a:solidFill>
              <a:srgbClr val="34568B"/>
            </a:solidFill>
            <a:ln>
              <a:solidFill>
                <a:srgbClr val="34568B"/>
              </a:solidFill>
            </a:ln>
          </c:spPr>
          <c:invertIfNegative val="0"/>
          <c:dLbls>
            <c:delete val="1"/>
          </c:dLbls>
          <c:cat>
            <c:strRef>
              <c:f>Sheet1!$A$2:$A$4</c:f>
              <c:strCache>
                <c:ptCount val="3"/>
                <c:pt idx="0">
                  <c:v>1005 MHz</c:v>
                </c:pt>
                <c:pt idx="1">
                  <c:v>1200 MHz</c:v>
                </c:pt>
                <c:pt idx="2">
                  <c:v>1395 MHz</c:v>
                </c:pt>
              </c:strCache>
            </c:strRef>
          </c:cat>
          <c:val>
            <c:numRef>
              <c:f>Sheet1!$B$2:$B$4</c:f>
              <c:numCache>
                <c:formatCode>General</c:formatCode>
                <c:ptCount val="3"/>
                <c:pt idx="0">
                  <c:v>217.96</c:v>
                </c:pt>
                <c:pt idx="1">
                  <c:v>202.78</c:v>
                </c:pt>
                <c:pt idx="2">
                  <c:v>217.56</c:v>
                </c:pt>
              </c:numCache>
            </c:numRef>
          </c:val>
        </c:ser>
        <c:ser>
          <c:idx val="1"/>
          <c:order val="1"/>
          <c:tx>
            <c:strRef>
              <c:f>Sheet1!$C$1</c:f>
              <c:strCache>
                <c:ptCount val="1"/>
                <c:pt idx="0">
                  <c:v>Predicted</c:v>
                </c:pt>
              </c:strCache>
            </c:strRef>
          </c:tx>
          <c:spPr>
            <a:solidFill>
              <a:srgbClr val="A85C2C"/>
            </a:solidFill>
            <a:ln>
              <a:solidFill>
                <a:srgbClr val="A85C2C"/>
              </a:solidFill>
            </a:ln>
          </c:spPr>
          <c:invertIfNegative val="0"/>
          <c:dLbls>
            <c:delete val="1"/>
          </c:dLbls>
          <c:cat>
            <c:strRef>
              <c:f>Sheet1!$A$2:$A$4</c:f>
              <c:strCache>
                <c:ptCount val="3"/>
                <c:pt idx="0">
                  <c:v>1005 MHz</c:v>
                </c:pt>
                <c:pt idx="1">
                  <c:v>1200 MHz</c:v>
                </c:pt>
                <c:pt idx="2">
                  <c:v>1395 MHz</c:v>
                </c:pt>
              </c:strCache>
            </c:strRef>
          </c:cat>
          <c:val>
            <c:numRef>
              <c:f>Sheet1!$C$2:$C$4</c:f>
              <c:numCache>
                <c:formatCode>General</c:formatCode>
                <c:ptCount val="3"/>
                <c:pt idx="0">
                  <c:v>227.29</c:v>
                </c:pt>
                <c:pt idx="1">
                  <c:v>217.12</c:v>
                </c:pt>
                <c:pt idx="2">
                  <c:v>208.56</c:v>
                </c:pt>
              </c:numCache>
            </c:numRef>
          </c:val>
        </c:ser>
        <c:dLbls>
          <c:showLegendKey val="0"/>
          <c:showVal val="0"/>
          <c:showCatName val="0"/>
          <c:showSerName val="0"/>
          <c:showPercent val="0"/>
          <c:showBubbleSize val="0"/>
        </c:dLbls>
        <c:gapWidth val="70"/>
        <c:axId val="-2068027336"/>
        <c:axId val="-2113994440"/>
      </c:barChart>
      <c:catAx>
        <c:axId val="-2068027336"/>
        <c:scaling>
          <c:orientation val="minMax"/>
        </c:scaling>
        <c:delete val="0"/>
        <c:axPos val="b"/>
        <c:majorTickMark val="out"/>
        <c:minorTickMark val="none"/>
        <c:tickLblPos val="nextTo"/>
        <c:txPr>
          <a:bodyPr rot="-60000000" spcFirstLastPara="0" vertOverflow="ellipsis" vert="horz" wrap="square" anchor="ctr" anchorCtr="1"/>
          <a:lstStyle/>
          <a:p>
            <a:pPr>
              <a:defRPr lang="zh-CN" sz="10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scaling>
        <c:delete val="0"/>
        <c:axPos val="l"/>
        <c:majorGridlines/>
        <c:numFmt formatCode="0.0" sourceLinked="0"/>
        <c:majorTickMark val="out"/>
        <c:minorTickMark val="none"/>
        <c:tickLblPos val="nextTo"/>
        <c:txPr>
          <a:bodyPr rot="-60000000" spcFirstLastPara="0" vertOverflow="ellipsis" vert="horz" wrap="square" anchor="ctr" anchorCtr="1"/>
          <a:lstStyle/>
          <a:p>
            <a:pPr>
              <a:defRPr lang="zh-CN" sz="900" b="0" i="0" u="none" strike="noStrike" kern="1200" baseline="0">
                <a:solidFill>
                  <a:schemeClr val="tx1"/>
                </a:solidFill>
                <a:latin typeface="+mn-lt"/>
                <a:ea typeface="+mn-ea"/>
                <a:cs typeface="+mn-cs"/>
              </a:defRPr>
            </a:pPr>
          </a:p>
        </c:txPr>
        <c:crossAx val="-2068027336"/>
        <c:crosses val="autoZero"/>
        <c:crossBetween val="between"/>
      </c:valAx>
    </c:plotArea>
    <c:legend>
      <c:legendPos val="b"/>
      <c:layout/>
      <c:overlay val="0"/>
      <c:txPr>
        <a:bodyPr rot="0" spcFirstLastPara="0" vertOverflow="ellipsis" vert="horz" wrap="square" anchor="ctr" anchorCtr="1"/>
        <a:lstStyle/>
        <a:p>
          <a:pPr>
            <a:defRPr lang="zh-CN" sz="18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4927b264-62c8-45cc-b635-18903c199640}"/>
      </c:ext>
    </c:extLst>
  </c:chart>
  <c:txPr>
    <a:bodyPr/>
    <a:lstStyle/>
    <a:p>
      <a:pPr>
        <a:defRPr lang="zh-CN" sz="1800"/>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Time APE</c:v>
                </c:pt>
              </c:strCache>
            </c:strRef>
          </c:tx>
          <c:spPr>
            <a:solidFill>
              <a:srgbClr val="34568B"/>
            </a:solidFill>
            <a:ln>
              <a:solidFill>
                <a:srgbClr val="34568B"/>
              </a:solidFill>
            </a:ln>
          </c:spPr>
          <c:invertIfNegative val="0"/>
          <c:dLbls>
            <c:delete val="1"/>
          </c:dLbls>
          <c:cat>
            <c:strRef>
              <c:f>Sheet1!$A$2:$A$4</c:f>
              <c:strCache>
                <c:ptCount val="3"/>
                <c:pt idx="0">
                  <c:v>1005 MHz</c:v>
                </c:pt>
                <c:pt idx="1">
                  <c:v>1200 MHz</c:v>
                </c:pt>
                <c:pt idx="2">
                  <c:v>1395 MHz</c:v>
                </c:pt>
              </c:strCache>
            </c:strRef>
          </c:cat>
          <c:val>
            <c:numRef>
              <c:f>Sheet1!$B$2:$B$4</c:f>
              <c:numCache>
                <c:formatCode>General</c:formatCode>
                <c:ptCount val="3"/>
                <c:pt idx="0">
                  <c:v>4.28</c:v>
                </c:pt>
                <c:pt idx="1">
                  <c:v>7.07</c:v>
                </c:pt>
                <c:pt idx="2">
                  <c:v>4.14</c:v>
                </c:pt>
              </c:numCache>
            </c:numRef>
          </c:val>
        </c:ser>
        <c:ser>
          <c:idx val="1"/>
          <c:order val="1"/>
          <c:tx>
            <c:strRef>
              <c:f>Sheet1!$C$1</c:f>
              <c:strCache>
                <c:ptCount val="1"/>
                <c:pt idx="0">
                  <c:v>Power APE</c:v>
                </c:pt>
              </c:strCache>
            </c:strRef>
          </c:tx>
          <c:spPr>
            <a:solidFill>
              <a:srgbClr val="A85C2C"/>
            </a:solidFill>
            <a:ln>
              <a:solidFill>
                <a:srgbClr val="A85C2C"/>
              </a:solidFill>
            </a:ln>
          </c:spPr>
          <c:invertIfNegative val="0"/>
          <c:dLbls>
            <c:delete val="1"/>
          </c:dLbls>
          <c:cat>
            <c:strRef>
              <c:f>Sheet1!$A$2:$A$4</c:f>
              <c:strCache>
                <c:ptCount val="3"/>
                <c:pt idx="0">
                  <c:v>1005 MHz</c:v>
                </c:pt>
                <c:pt idx="1">
                  <c:v>1200 MHz</c:v>
                </c:pt>
                <c:pt idx="2">
                  <c:v>1395 MHz</c:v>
                </c:pt>
              </c:strCache>
            </c:strRef>
          </c:cat>
          <c:val>
            <c:numRef>
              <c:f>Sheet1!$C$2:$C$4</c:f>
              <c:numCache>
                <c:formatCode>General</c:formatCode>
                <c:ptCount val="3"/>
                <c:pt idx="0">
                  <c:v>16.79</c:v>
                </c:pt>
                <c:pt idx="1">
                  <c:v>12.95</c:v>
                </c:pt>
                <c:pt idx="2">
                  <c:v>7.4</c:v>
                </c:pt>
              </c:numCache>
            </c:numRef>
          </c:val>
        </c:ser>
        <c:dLbls>
          <c:showLegendKey val="0"/>
          <c:showVal val="0"/>
          <c:showCatName val="0"/>
          <c:showSerName val="0"/>
          <c:showPercent val="0"/>
          <c:showBubbleSize val="0"/>
        </c:dLbls>
        <c:gapWidth val="70"/>
        <c:axId val="-2068027336"/>
        <c:axId val="-2113994440"/>
      </c:barChart>
      <c:catAx>
        <c:axId val="-2068027336"/>
        <c:scaling>
          <c:orientation val="minMax"/>
        </c:scaling>
        <c:delete val="0"/>
        <c:axPos val="b"/>
        <c:majorTickMark val="out"/>
        <c:minorTickMark val="none"/>
        <c:tickLblPos val="nextTo"/>
        <c:txPr>
          <a:bodyPr rot="-60000000" spcFirstLastPara="0" vertOverflow="ellipsis" vert="horz" wrap="square" anchor="ctr" anchorCtr="1"/>
          <a:lstStyle/>
          <a:p>
            <a:pPr>
              <a:defRPr lang="zh-CN" sz="10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max val="20"/>
          <c:min val="0"/>
        </c:scaling>
        <c:delete val="0"/>
        <c:axPos val="l"/>
        <c:majorGridlines/>
        <c:numFmt formatCode="0.0&quot;%&quot;" sourceLinked="0"/>
        <c:majorTickMark val="out"/>
        <c:minorTickMark val="none"/>
        <c:tickLblPos val="nextTo"/>
        <c:txPr>
          <a:bodyPr rot="-60000000" spcFirstLastPara="0" vertOverflow="ellipsis" vert="horz" wrap="square" anchor="ctr" anchorCtr="1"/>
          <a:lstStyle/>
          <a:p>
            <a:pPr>
              <a:defRPr lang="zh-CN" sz="900" b="0" i="0" u="none" strike="noStrike" kern="1200" baseline="0">
                <a:solidFill>
                  <a:schemeClr val="tx1"/>
                </a:solidFill>
                <a:latin typeface="+mn-lt"/>
                <a:ea typeface="+mn-ea"/>
                <a:cs typeface="+mn-cs"/>
              </a:defRPr>
            </a:pPr>
          </a:p>
        </c:txPr>
        <c:crossAx val="-2068027336"/>
        <c:crosses val="autoZero"/>
        <c:crossBetween val="between"/>
      </c:valAx>
    </c:plotArea>
    <c:legend>
      <c:legendPos val="b"/>
      <c:layout/>
      <c:overlay val="0"/>
      <c:txPr>
        <a:bodyPr rot="0" spcFirstLastPara="0" vertOverflow="ellipsis" vert="horz" wrap="square" anchor="ctr" anchorCtr="1"/>
        <a:lstStyle/>
        <a:p>
          <a:pPr>
            <a:defRPr lang="zh-CN" sz="18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a5c4dd1a-5701-430a-ad1f-d6e8fa7be30d}"/>
      </c:ext>
    </c:extLst>
  </c:chart>
  <c:txPr>
    <a:bodyPr/>
    <a:lstStyle/>
    <a:p>
      <a:pPr>
        <a:defRPr lang="zh-CN" sz="1800"/>
      </a:p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chart" Target="../charts/chart1.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chart" Target="../charts/chart4.xml"/><Relationship Id="rId1" Type="http://schemas.openxmlformats.org/officeDocument/2006/relationships/chart" Target="../charts/chart3.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chart" Target="../charts/chart6.xml"/><Relationship Id="rId1"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914400" y="1828800"/>
            <a:ext cx="12801600" cy="1280160"/>
          </a:xfrm>
          <a:prstGeom prst="rect">
            <a:avLst/>
          </a:prstGeom>
          <a:noFill/>
        </p:spPr>
        <p:txBody>
          <a:bodyPr wrap="square" anchor="t">
            <a:spAutoFit/>
          </a:bodyPr>
          <a:lstStyle/>
          <a:p>
            <a:pPr algn="ctr">
              <a:defRPr sz="3000" b="1">
                <a:solidFill>
                  <a:srgbClr val="19263B"/>
                </a:solidFill>
              </a:defRPr>
            </a:pPr>
            <a:r>
              <a:t>分布式训练 GPU 能效优化</a:t>
            </a:r>
          </a:p>
        </p:txBody>
      </p:sp>
      <p:sp>
        <p:nvSpPr>
          <p:cNvPr id="3" name="TextBox 2"/>
          <p:cNvSpPr txBox="1"/>
          <p:nvPr/>
        </p:nvSpPr>
        <p:spPr>
          <a:xfrm>
            <a:off x="914400" y="2743200"/>
            <a:ext cx="12801600" cy="914400"/>
          </a:xfrm>
          <a:prstGeom prst="rect">
            <a:avLst/>
          </a:prstGeom>
          <a:noFill/>
        </p:spPr>
        <p:txBody>
          <a:bodyPr wrap="square" anchor="t">
            <a:spAutoFit/>
          </a:bodyPr>
          <a:lstStyle/>
          <a:p>
            <a:pPr algn="ctr">
              <a:defRPr sz="1800" b="0">
                <a:solidFill>
                  <a:srgbClr val="34568B"/>
                </a:solidFill>
              </a:defRPr>
            </a:pPr>
            <a:r>
              <a:t>基于受控锁频、Zeus 统计与网络感知预测的实验研究</a:t>
            </a:r>
          </a:p>
        </p:txBody>
      </p:sp>
      <p:sp>
        <p:nvSpPr>
          <p:cNvPr id="4" name="TextBox 3"/>
          <p:cNvSpPr txBox="1"/>
          <p:nvPr/>
        </p:nvSpPr>
        <p:spPr>
          <a:xfrm>
            <a:off x="1828800" y="3840480"/>
            <a:ext cx="10972800" cy="914400"/>
          </a:xfrm>
          <a:prstGeom prst="rect">
            <a:avLst/>
          </a:prstGeom>
          <a:noFill/>
        </p:spPr>
        <p:txBody>
          <a:bodyPr wrap="square" anchor="t">
            <a:spAutoFit/>
          </a:bodyPr>
          <a:lstStyle/>
          <a:p>
            <a:pPr algn="ctr">
              <a:defRPr sz="1400" b="0">
                <a:solidFill>
                  <a:srgbClr val="6C757D"/>
                </a:solidFill>
              </a:defRPr>
            </a:pPr>
            <a:r>
              <a:t>Megatron-DeepSpeed baseline 对照 | V100 InfiniBand + RTX 4080 Ethernet</a:t>
            </a:r>
          </a:p>
        </p:txBody>
      </p:sp>
      <p:sp>
        <p:nvSpPr>
          <p:cNvPr id="5" name="Rounded Rectangle 4"/>
          <p:cNvSpPr/>
          <p:nvPr/>
        </p:nvSpPr>
        <p:spPr>
          <a:xfrm>
            <a:off x="2926080" y="5029200"/>
            <a:ext cx="8778240" cy="1463040"/>
          </a:xfrm>
          <a:prstGeom prst="roundRect">
            <a:avLst/>
          </a:prstGeom>
          <a:solidFill>
            <a:srgbClr val="EBF1F9"/>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08960" y="5166360"/>
            <a:ext cx="8412480" cy="320040"/>
          </a:xfrm>
          <a:prstGeom prst="rect">
            <a:avLst/>
          </a:prstGeom>
          <a:noFill/>
        </p:spPr>
        <p:txBody>
          <a:bodyPr wrap="square" anchor="t">
            <a:spAutoFit/>
          </a:bodyPr>
          <a:lstStyle/>
          <a:p>
            <a:pPr algn="l">
              <a:defRPr sz="1500" b="1">
                <a:solidFill>
                  <a:srgbClr val="19263B"/>
                </a:solidFill>
              </a:defRPr>
            </a:pPr>
            <a:r>
              <a:t>汇报重点</a:t>
            </a:r>
          </a:p>
        </p:txBody>
      </p:sp>
      <p:sp>
        <p:nvSpPr>
          <p:cNvPr id="7" name="TextBox 6"/>
          <p:cNvSpPr txBox="1"/>
          <p:nvPr/>
        </p:nvSpPr>
        <p:spPr>
          <a:xfrm>
            <a:off x="3108960" y="5532120"/>
            <a:ext cx="8412480" cy="777240"/>
          </a:xfrm>
          <a:prstGeom prst="rect">
            <a:avLst/>
          </a:prstGeom>
          <a:noFill/>
        </p:spPr>
        <p:txBody>
          <a:bodyPr wrap="square">
            <a:spAutoFit/>
          </a:bodyPr>
          <a:lstStyle/>
          <a:p>
            <a:pPr>
              <a:spcAft>
                <a:spcPts val="800"/>
              </a:spcAft>
              <a:defRPr sz="1300">
                <a:solidFill>
                  <a:srgbClr val="2E3A4A"/>
                </a:solidFill>
              </a:defRPr>
            </a:pPr>
            <a:r>
              <a:t>• 先给出 baseline 与 static 的受控对照证据，再给出 predictor 的跨拓扑结果</a:t>
            </a:r>
          </a:p>
          <a:p>
            <a:pPr>
              <a:spcAft>
                <a:spcPts val="800"/>
              </a:spcAft>
              <a:defRPr sz="1300">
                <a:solidFill>
                  <a:srgbClr val="2E3A4A"/>
                </a:solidFill>
              </a:defRPr>
            </a:pPr>
            <a:r>
              <a:t>• 所有 headline 均明确标注支撑来源与适用边界</a:t>
            </a:r>
          </a:p>
        </p:txBody>
      </p:sp>
      <p:sp>
        <p:nvSpPr>
          <p:cNvPr id="8" name="TextBox 7"/>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Academic-style internal report deck generated from local repo materials</a:t>
            </a:r>
          </a:p>
        </p:txBody>
      </p:sp>
      <p:sp>
        <p:nvSpPr>
          <p:cNvPr id="9" name="TextBox 8"/>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1. 研究问题与汇报主线</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05840"/>
            <a:ext cx="13258800" cy="320040"/>
          </a:xfrm>
          <a:prstGeom prst="rect">
            <a:avLst/>
          </a:prstGeom>
          <a:noFill/>
        </p:spPr>
        <p:txBody>
          <a:bodyPr wrap="square" anchor="t">
            <a:spAutoFit/>
          </a:bodyPr>
          <a:lstStyle/>
          <a:p>
            <a:pPr algn="l">
              <a:defRPr sz="1200" b="0">
                <a:solidFill>
                  <a:srgbClr val="6C757D"/>
                </a:solidFill>
              </a:defRPr>
            </a:pPr>
            <a:r>
              <a:t>先回答“为什么比较 baseline 与 static”，再回答“预测层解决什么问题”</a:t>
            </a:r>
          </a:p>
        </p:txBody>
      </p:sp>
      <p:sp>
        <p:nvSpPr>
          <p:cNvPr id="5" name="TextBox 4"/>
          <p:cNvSpPr txBox="1"/>
          <p:nvPr/>
        </p:nvSpPr>
        <p:spPr>
          <a:xfrm>
            <a:off x="822960" y="1554480"/>
            <a:ext cx="6583680" cy="4389120"/>
          </a:xfrm>
          <a:prstGeom prst="rect">
            <a:avLst/>
          </a:prstGeom>
          <a:noFill/>
        </p:spPr>
        <p:txBody>
          <a:bodyPr wrap="square">
            <a:spAutoFit/>
          </a:bodyPr>
          <a:lstStyle/>
          <a:p>
            <a:pPr>
              <a:spcAft>
                <a:spcPts val="800"/>
              </a:spcAft>
              <a:defRPr sz="1800">
                <a:solidFill>
                  <a:srgbClr val="2E3A4A"/>
                </a:solidFill>
              </a:defRPr>
            </a:pPr>
            <a:r>
              <a:t>• Megatron-DeepSpeed baseline 是默认训练路径，但默认 GPU 行为不一定处在能效最优点。</a:t>
            </a:r>
          </a:p>
          <a:p>
            <a:pPr>
              <a:spcAft>
                <a:spcPts val="800"/>
              </a:spcAft>
              <a:defRPr sz="1800">
                <a:solidFill>
                  <a:srgbClr val="2E3A4A"/>
                </a:solidFill>
              </a:defRPr>
            </a:pPr>
            <a:r>
              <a:t>• 本项目真正关注的问题不是“能不能降频”，而是“能否在不显著拉长训练时间的前提下降低功耗与能耗”。</a:t>
            </a:r>
          </a:p>
          <a:p>
            <a:pPr>
              <a:spcAft>
                <a:spcPts val="800"/>
              </a:spcAft>
              <a:defRPr sz="1800">
                <a:solidFill>
                  <a:srgbClr val="2E3A4A"/>
                </a:solidFill>
              </a:defRPr>
            </a:pPr>
            <a:r>
              <a:t>• 因此汇报必须先给出 baseline vs static 的受控对照证据，再讨论 predictor 如何帮助缩小 sweep 成本。</a:t>
            </a:r>
          </a:p>
        </p:txBody>
      </p:sp>
      <p:sp>
        <p:nvSpPr>
          <p:cNvPr id="6" name="Rounded Rectangle 5"/>
          <p:cNvSpPr/>
          <p:nvPr/>
        </p:nvSpPr>
        <p:spPr>
          <a:xfrm>
            <a:off x="7772400" y="1554480"/>
            <a:ext cx="5760720" cy="2377440"/>
          </a:xfrm>
          <a:prstGeom prst="roundRect">
            <a:avLst/>
          </a:prstGeom>
          <a:solidFill>
            <a:srgbClr val="EBF5F0"/>
          </a:solidFill>
          <a:ln>
            <a:solidFill>
              <a:srgbClr val="247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1691639"/>
            <a:ext cx="5394959" cy="320040"/>
          </a:xfrm>
          <a:prstGeom prst="rect">
            <a:avLst/>
          </a:prstGeom>
          <a:noFill/>
        </p:spPr>
        <p:txBody>
          <a:bodyPr wrap="square" anchor="t">
            <a:spAutoFit/>
          </a:bodyPr>
          <a:lstStyle/>
          <a:p>
            <a:pPr algn="l">
              <a:defRPr sz="1500" b="1">
                <a:solidFill>
                  <a:srgbClr val="19263B"/>
                </a:solidFill>
              </a:defRPr>
            </a:pPr>
            <a:r>
              <a:t>本次 deck 的写法</a:t>
            </a:r>
          </a:p>
        </p:txBody>
      </p:sp>
      <p:sp>
        <p:nvSpPr>
          <p:cNvPr id="8" name="TextBox 7"/>
          <p:cNvSpPr txBox="1"/>
          <p:nvPr/>
        </p:nvSpPr>
        <p:spPr>
          <a:xfrm>
            <a:off x="7955279" y="2057400"/>
            <a:ext cx="5394959" cy="1691640"/>
          </a:xfrm>
          <a:prstGeom prst="rect">
            <a:avLst/>
          </a:prstGeom>
          <a:noFill/>
        </p:spPr>
        <p:txBody>
          <a:bodyPr wrap="square">
            <a:spAutoFit/>
          </a:bodyPr>
          <a:lstStyle/>
          <a:p>
            <a:pPr>
              <a:spcAft>
                <a:spcPts val="800"/>
              </a:spcAft>
              <a:defRPr sz="1300">
                <a:solidFill>
                  <a:srgbClr val="2E3A4A"/>
                </a:solidFill>
              </a:defRPr>
            </a:pPr>
            <a:r>
              <a:t>• 不以“20%+”大字报开场</a:t>
            </a:r>
          </a:p>
          <a:p>
            <a:pPr>
              <a:spcAft>
                <a:spcPts val="800"/>
              </a:spcAft>
              <a:defRPr sz="1300">
                <a:solidFill>
                  <a:srgbClr val="2E3A4A"/>
                </a:solidFill>
              </a:defRPr>
            </a:pPr>
            <a:r>
              <a:t>• 先给实验口径，再给数据表，再给结论</a:t>
            </a:r>
          </a:p>
          <a:p>
            <a:pPr>
              <a:spcAft>
                <a:spcPts val="800"/>
              </a:spcAft>
              <a:defRPr sz="1300">
                <a:solidFill>
                  <a:srgbClr val="2E3A4A"/>
                </a:solidFill>
              </a:defRPr>
            </a:pPr>
            <a:r>
              <a:t>• 把 predictor 明确定位为 frequency-selection assistant</a:t>
            </a:r>
          </a:p>
        </p:txBody>
      </p:sp>
      <p:sp>
        <p:nvSpPr>
          <p:cNvPr id="9" name="Rounded Rectangle 8"/>
          <p:cNvSpPr/>
          <p:nvPr/>
        </p:nvSpPr>
        <p:spPr>
          <a:xfrm>
            <a:off x="7772400" y="4297680"/>
            <a:ext cx="5760720" cy="1645920"/>
          </a:xfrm>
          <a:prstGeom prst="roundRect">
            <a:avLst/>
          </a:prstGeom>
          <a:solidFill>
            <a:srgbClr val="FCF3EB"/>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4434840"/>
            <a:ext cx="5394959" cy="320040"/>
          </a:xfrm>
          <a:prstGeom prst="rect">
            <a:avLst/>
          </a:prstGeom>
          <a:noFill/>
        </p:spPr>
        <p:txBody>
          <a:bodyPr wrap="square" anchor="t">
            <a:spAutoFit/>
          </a:bodyPr>
          <a:lstStyle/>
          <a:p>
            <a:pPr algn="l">
              <a:defRPr sz="1500" b="1">
                <a:solidFill>
                  <a:srgbClr val="19263B"/>
                </a:solidFill>
              </a:defRPr>
            </a:pPr>
            <a:r>
              <a:t>核心研究问题</a:t>
            </a:r>
          </a:p>
        </p:txBody>
      </p:sp>
      <p:sp>
        <p:nvSpPr>
          <p:cNvPr id="11" name="TextBox 10"/>
          <p:cNvSpPr txBox="1"/>
          <p:nvPr/>
        </p:nvSpPr>
        <p:spPr>
          <a:xfrm>
            <a:off x="7955279" y="4800600"/>
            <a:ext cx="5394959" cy="960120"/>
          </a:xfrm>
          <a:prstGeom prst="rect">
            <a:avLst/>
          </a:prstGeom>
          <a:noFill/>
        </p:spPr>
        <p:txBody>
          <a:bodyPr wrap="square">
            <a:spAutoFit/>
          </a:bodyPr>
          <a:lstStyle/>
          <a:p>
            <a:pPr>
              <a:spcAft>
                <a:spcPts val="800"/>
              </a:spcAft>
              <a:defRPr sz="1300">
                <a:solidFill>
                  <a:srgbClr val="2E3A4A"/>
                </a:solidFill>
              </a:defRPr>
            </a:pPr>
            <a:r>
              <a:t>• Q1: 合适固定频点是否确实存在？</a:t>
            </a:r>
          </a:p>
          <a:p>
            <a:pPr>
              <a:spcAft>
                <a:spcPts val="800"/>
              </a:spcAft>
              <a:defRPr sz="1300">
                <a:solidFill>
                  <a:srgbClr val="2E3A4A"/>
                </a:solidFill>
              </a:defRPr>
            </a:pPr>
            <a:r>
              <a:t>• Q2: 如何减少在新拓扑/新网络上的试错频点数？</a:t>
            </a:r>
          </a:p>
        </p:txBody>
      </p:sp>
      <p:sp>
        <p:nvSpPr>
          <p:cNvPr id="12" name="TextBox 11"/>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Narrative source: 汇报总结_20260415/01_实验口径与主线.md</a:t>
            </a:r>
          </a:p>
        </p:txBody>
      </p:sp>
      <p:sp>
        <p:nvSpPr>
          <p:cNvPr id="13" name="TextBox 12"/>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2. 公平对比口径：除了时钟策略，其他都不变</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417320"/>
            <a:ext cx="6309360" cy="1920240"/>
          </a:xfrm>
          <a:prstGeom prst="roundRect">
            <a:avLst/>
          </a:prstGeom>
          <a:solidFill>
            <a:srgbClr val="EBF1F9"/>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554480"/>
            <a:ext cx="5943600" cy="320040"/>
          </a:xfrm>
          <a:prstGeom prst="rect">
            <a:avLst/>
          </a:prstGeom>
          <a:noFill/>
        </p:spPr>
        <p:txBody>
          <a:bodyPr wrap="square" anchor="t">
            <a:spAutoFit/>
          </a:bodyPr>
          <a:lstStyle/>
          <a:p>
            <a:pPr algn="l">
              <a:defRPr sz="1500" b="1">
                <a:solidFill>
                  <a:srgbClr val="19263B"/>
                </a:solidFill>
              </a:defRPr>
            </a:pPr>
            <a:r>
              <a:t>唯一允许变化的变量</a:t>
            </a:r>
          </a:p>
        </p:txBody>
      </p:sp>
      <p:sp>
        <p:nvSpPr>
          <p:cNvPr id="6" name="TextBox 5"/>
          <p:cNvSpPr txBox="1"/>
          <p:nvPr/>
        </p:nvSpPr>
        <p:spPr>
          <a:xfrm>
            <a:off x="1005840" y="1920240"/>
            <a:ext cx="5943600" cy="1234440"/>
          </a:xfrm>
          <a:prstGeom prst="rect">
            <a:avLst/>
          </a:prstGeom>
          <a:noFill/>
        </p:spPr>
        <p:txBody>
          <a:bodyPr wrap="square">
            <a:spAutoFit/>
          </a:bodyPr>
          <a:lstStyle/>
          <a:p>
            <a:pPr>
              <a:spcAft>
                <a:spcPts val="800"/>
              </a:spcAft>
              <a:defRPr sz="1300">
                <a:solidFill>
                  <a:srgbClr val="2E3A4A"/>
                </a:solidFill>
              </a:defRPr>
            </a:pPr>
            <a:r>
              <a:t>• `EXPERIMENT_MODE=baseline` 与 `EXPERIMENT_MODE=static`</a:t>
            </a:r>
          </a:p>
          <a:p>
            <a:pPr>
              <a:spcAft>
                <a:spcPts val="800"/>
              </a:spcAft>
              <a:defRPr sz="1300">
                <a:solidFill>
                  <a:srgbClr val="2E3A4A"/>
                </a:solidFill>
              </a:defRPr>
            </a:pPr>
            <a:r>
              <a:t>• `STATIC_CLOCK_MHZ`</a:t>
            </a:r>
          </a:p>
        </p:txBody>
      </p:sp>
      <p:sp>
        <p:nvSpPr>
          <p:cNvPr id="7" name="Rounded Rectangle 6"/>
          <p:cNvSpPr/>
          <p:nvPr/>
        </p:nvSpPr>
        <p:spPr>
          <a:xfrm>
            <a:off x="7498079" y="1417320"/>
            <a:ext cx="6309360" cy="1920240"/>
          </a:xfrm>
          <a:prstGeom prst="roundRect">
            <a:avLst/>
          </a:prstGeom>
          <a:solidFill>
            <a:srgbClr val="EBF5F0"/>
          </a:solidFill>
          <a:ln>
            <a:solidFill>
              <a:srgbClr val="247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59" y="1554480"/>
            <a:ext cx="5943600" cy="320040"/>
          </a:xfrm>
          <a:prstGeom prst="rect">
            <a:avLst/>
          </a:prstGeom>
          <a:noFill/>
        </p:spPr>
        <p:txBody>
          <a:bodyPr wrap="square" anchor="t">
            <a:spAutoFit/>
          </a:bodyPr>
          <a:lstStyle/>
          <a:p>
            <a:pPr algn="l">
              <a:defRPr sz="1500" b="1">
                <a:solidFill>
                  <a:srgbClr val="19263B"/>
                </a:solidFill>
              </a:defRPr>
            </a:pPr>
            <a:r>
              <a:t>必须保持一致的条件</a:t>
            </a:r>
          </a:p>
        </p:txBody>
      </p:sp>
      <p:sp>
        <p:nvSpPr>
          <p:cNvPr id="9" name="TextBox 8"/>
          <p:cNvSpPr txBox="1"/>
          <p:nvPr/>
        </p:nvSpPr>
        <p:spPr>
          <a:xfrm>
            <a:off x="7680959" y="1920240"/>
            <a:ext cx="5943600" cy="1234440"/>
          </a:xfrm>
          <a:prstGeom prst="rect">
            <a:avLst/>
          </a:prstGeom>
          <a:noFill/>
        </p:spPr>
        <p:txBody>
          <a:bodyPr wrap="square">
            <a:spAutoFit/>
          </a:bodyPr>
          <a:lstStyle/>
          <a:p>
            <a:pPr>
              <a:spcAft>
                <a:spcPts val="800"/>
              </a:spcAft>
              <a:defRPr sz="1300">
                <a:solidFill>
                  <a:srgbClr val="2E3A4A"/>
                </a:solidFill>
              </a:defRPr>
            </a:pPr>
            <a:r>
              <a:t>• 模型、tokenizer、数据集、TP/PP/DP、节点数、batch、训练步数、ZeRO、precision</a:t>
            </a:r>
          </a:p>
        </p:txBody>
      </p:sp>
      <p:graphicFrame>
        <p:nvGraphicFramePr>
          <p:cNvPr id="10" name="Table 9"/>
          <p:cNvGraphicFramePr>
            <a:graphicFrameLocks noGrp="1"/>
          </p:cNvGraphicFramePr>
          <p:nvPr/>
        </p:nvGraphicFramePr>
        <p:xfrm>
          <a:off x="822960" y="3749039"/>
          <a:ext cx="12984480" cy="2286000"/>
        </p:xfrm>
        <a:graphic>
          <a:graphicData uri="http://schemas.openxmlformats.org/drawingml/2006/table">
            <a:tbl>
              <a:tblPr firstRow="1" bandRow="1">
                <a:tableStyleId>{5C22544A-7EE6-4342-B048-85BDC9FD1C3A}</a:tableStyleId>
              </a:tblPr>
              <a:tblGrid>
                <a:gridCol w="2011680"/>
                <a:gridCol w="3657600"/>
                <a:gridCol w="3657600"/>
                <a:gridCol w="3657600"/>
              </a:tblGrid>
              <a:tr h="762000">
                <a:tc>
                  <a:txBody>
                    <a:bodyPr/>
                    <a:lstStyle/>
                    <a:p>
                      <a:pPr algn="ctr">
                        <a:defRPr sz="1100" b="1">
                          <a:solidFill>
                            <a:srgbClr val="19263B"/>
                          </a:solidFill>
                        </a:defRPr>
                      </a:pPr>
                      <a:r>
                        <a:t>模式</a:t>
                      </a:r>
                    </a:p>
                  </a:txBody>
                  <a:tcPr>
                    <a:solidFill>
                      <a:srgbClr val="EBF1F9"/>
                    </a:solidFill>
                  </a:tcPr>
                </a:tc>
                <a:tc>
                  <a:txBody>
                    <a:bodyPr/>
                    <a:lstStyle/>
                    <a:p>
                      <a:pPr algn="ctr">
                        <a:defRPr sz="1100" b="1">
                          <a:solidFill>
                            <a:srgbClr val="19263B"/>
                          </a:solidFill>
                        </a:defRPr>
                      </a:pPr>
                      <a:r>
                        <a:t>时钟策略</a:t>
                      </a:r>
                    </a:p>
                  </a:txBody>
                  <a:tcPr>
                    <a:solidFill>
                      <a:srgbClr val="EBF1F9"/>
                    </a:solidFill>
                  </a:tcPr>
                </a:tc>
                <a:tc>
                  <a:txBody>
                    <a:bodyPr/>
                    <a:lstStyle/>
                    <a:p>
                      <a:pPr algn="ctr">
                        <a:defRPr sz="1100" b="1">
                          <a:solidFill>
                            <a:srgbClr val="19263B"/>
                          </a:solidFill>
                        </a:defRPr>
                      </a:pPr>
                      <a:r>
                        <a:t>观测来源</a:t>
                      </a:r>
                    </a:p>
                  </a:txBody>
                  <a:tcPr>
                    <a:solidFill>
                      <a:srgbClr val="EBF1F9"/>
                    </a:solidFill>
                  </a:tcPr>
                </a:tc>
                <a:tc>
                  <a:txBody>
                    <a:bodyPr/>
                    <a:lstStyle/>
                    <a:p>
                      <a:pPr algn="ctr">
                        <a:defRPr sz="1100" b="1">
                          <a:solidFill>
                            <a:srgbClr val="19263B"/>
                          </a:solidFill>
                        </a:defRPr>
                      </a:pPr>
                      <a:r>
                        <a:t>核心指标</a:t>
                      </a:r>
                    </a:p>
                  </a:txBody>
                  <a:tcPr>
                    <a:solidFill>
                      <a:srgbClr val="EBF1F9"/>
                    </a:solidFill>
                  </a:tcPr>
                </a:tc>
              </a:tr>
              <a:tr h="762000">
                <a:tc>
                  <a:txBody>
                    <a:bodyPr/>
                    <a:lstStyle/>
                    <a:p>
                      <a:pPr algn="ctr">
                        <a:defRPr sz="1200" b="0">
                          <a:solidFill>
                            <a:srgbClr val="2E3A4A"/>
                          </a:solidFill>
                        </a:defRPr>
                      </a:pPr>
                      <a:r>
                        <a:t>baseline</a:t>
                      </a:r>
                    </a:p>
                  </a:txBody>
                  <a:tcPr>
                    <a:solidFill>
                      <a:srgbClr val="FFFFFF"/>
                    </a:solidFill>
                  </a:tcPr>
                </a:tc>
                <a:tc>
                  <a:txBody>
                    <a:bodyPr/>
                    <a:lstStyle/>
                    <a:p>
                      <a:pPr algn="ctr">
                        <a:defRPr sz="1200" b="0">
                          <a:solidFill>
                            <a:srgbClr val="2E3A4A"/>
                          </a:solidFill>
                        </a:defRPr>
                      </a:pPr>
                      <a:r>
                        <a:t>默认 GPU 行为</a:t>
                      </a:r>
                    </a:p>
                  </a:txBody>
                  <a:tcPr>
                    <a:solidFill>
                      <a:srgbClr val="FFFFFF"/>
                    </a:solidFill>
                  </a:tcPr>
                </a:tc>
                <a:tc>
                  <a:txBody>
                    <a:bodyPr/>
                    <a:lstStyle/>
                    <a:p>
                      <a:pPr algn="ctr">
                        <a:defRPr sz="1200" b="0">
                          <a:solidFill>
                            <a:srgbClr val="2E3A4A"/>
                          </a:solidFill>
                        </a:defRPr>
                      </a:pPr>
                      <a:r>
                        <a:t>Zeus + run artifacts</a:t>
                      </a:r>
                    </a:p>
                  </a:txBody>
                  <a:tcPr>
                    <a:solidFill>
                      <a:srgbClr val="FFFFFF"/>
                    </a:solidFill>
                  </a:tcPr>
                </a:tc>
                <a:tc>
                  <a:txBody>
                    <a:bodyPr/>
                    <a:lstStyle/>
                    <a:p>
                      <a:pPr algn="ctr">
                        <a:defRPr sz="1200" b="0">
                          <a:solidFill>
                            <a:srgbClr val="2E3A4A"/>
                          </a:solidFill>
                        </a:defRPr>
                      </a:pPr>
                      <a:r>
                        <a:t>time / avg_power / energy</a:t>
                      </a:r>
                    </a:p>
                  </a:txBody>
                  <a:tcPr>
                    <a:solidFill>
                      <a:srgbClr val="FFFFFF"/>
                    </a:solidFill>
                  </a:tcPr>
                </a:tc>
              </a:tr>
              <a:tr h="762000">
                <a:tc>
                  <a:txBody>
                    <a:bodyPr/>
                    <a:lstStyle/>
                    <a:p>
                      <a:pPr algn="ctr">
                        <a:defRPr sz="1200" b="0">
                          <a:solidFill>
                            <a:srgbClr val="2E3A4A"/>
                          </a:solidFill>
                        </a:defRPr>
                      </a:pPr>
                      <a:r>
                        <a:t>static</a:t>
                      </a:r>
                    </a:p>
                  </a:txBody>
                  <a:tcPr>
                    <a:solidFill>
                      <a:srgbClr val="FFFFFF"/>
                    </a:solidFill>
                  </a:tcPr>
                </a:tc>
                <a:tc>
                  <a:txBody>
                    <a:bodyPr/>
                    <a:lstStyle/>
                    <a:p>
                      <a:pPr algn="ctr">
                        <a:defRPr sz="1200" b="0">
                          <a:solidFill>
                            <a:srgbClr val="2E3A4A"/>
                          </a:solidFill>
                        </a:defRPr>
                      </a:pPr>
                      <a:r>
                        <a:t>固定到目标 `STATIC_CLOCK_MHZ`</a:t>
                      </a:r>
                    </a:p>
                  </a:txBody>
                  <a:tcPr>
                    <a:solidFill>
                      <a:srgbClr val="FFFFFF"/>
                    </a:solidFill>
                  </a:tcPr>
                </a:tc>
                <a:tc>
                  <a:txBody>
                    <a:bodyPr/>
                    <a:lstStyle/>
                    <a:p>
                      <a:pPr algn="ctr">
                        <a:defRPr sz="1200" b="0">
                          <a:solidFill>
                            <a:srgbClr val="2E3A4A"/>
                          </a:solidFill>
                        </a:defRPr>
                      </a:pPr>
                      <a:r>
                        <a:t>Zeus + run artifacts</a:t>
                      </a:r>
                    </a:p>
                  </a:txBody>
                  <a:tcPr>
                    <a:solidFill>
                      <a:srgbClr val="FFFFFF"/>
                    </a:solidFill>
                  </a:tcPr>
                </a:tc>
                <a:tc>
                  <a:txBody>
                    <a:bodyPr/>
                    <a:lstStyle/>
                    <a:p>
                      <a:pPr algn="ctr">
                        <a:defRPr sz="1200" b="0">
                          <a:solidFill>
                            <a:srgbClr val="2E3A4A"/>
                          </a:solidFill>
                        </a:defRPr>
                      </a:pPr>
                      <a:r>
                        <a:t>time / avg_power / energy</a:t>
                      </a:r>
                    </a:p>
                  </a:txBody>
                  <a:tcPr>
                    <a:solidFill>
                      <a:srgbClr val="FFFFFF"/>
                    </a:solidFill>
                  </a:tcPr>
                </a:tc>
              </a:tr>
            </a:tbl>
          </a:graphicData>
        </a:graphic>
      </p:graphicFrame>
      <p:sp>
        <p:nvSpPr>
          <p:cNvPr id="11" name="TextBox 10"/>
          <p:cNvSpPr txBox="1"/>
          <p:nvPr/>
        </p:nvSpPr>
        <p:spPr>
          <a:xfrm>
            <a:off x="914400" y="6355080"/>
            <a:ext cx="12801600" cy="822960"/>
          </a:xfrm>
          <a:prstGeom prst="rect">
            <a:avLst/>
          </a:prstGeom>
          <a:noFill/>
        </p:spPr>
        <p:txBody>
          <a:bodyPr wrap="square">
            <a:spAutoFit/>
          </a:bodyPr>
          <a:lstStyle/>
          <a:p>
            <a:pPr>
              <a:spcAft>
                <a:spcPts val="800"/>
              </a:spcAft>
              <a:defRPr sz="1400">
                <a:solidFill>
                  <a:srgbClr val="2E3A4A"/>
                </a:solidFill>
              </a:defRPr>
            </a:pPr>
            <a:r>
              <a:t>• 因此后文所有“功耗节省”都应理解为：在相同 workload 与拓扑下，相对 baseline 的受控变化。</a:t>
            </a:r>
          </a:p>
        </p:txBody>
      </p:sp>
      <p:sp>
        <p:nvSpPr>
          <p:cNvPr id="12" name="TextBox 11"/>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Method rule source: docs/experiment-tracking.md and 汇报总结_20260415/05_证据清单.md</a:t>
            </a:r>
          </a:p>
        </p:txBody>
      </p:sp>
      <p:sp>
        <p:nvSpPr>
          <p:cNvPr id="13" name="TextBox 12"/>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3. 系统与方法：实验层、观测层、预测层</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28800"/>
            <a:ext cx="3657600" cy="2743200"/>
          </a:xfrm>
          <a:prstGeom prst="roundRect">
            <a:avLst/>
          </a:prstGeom>
          <a:solidFill>
            <a:srgbClr val="EBF1F9"/>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65960"/>
            <a:ext cx="3291840" cy="320040"/>
          </a:xfrm>
          <a:prstGeom prst="rect">
            <a:avLst/>
          </a:prstGeom>
          <a:noFill/>
        </p:spPr>
        <p:txBody>
          <a:bodyPr wrap="square" anchor="t">
            <a:spAutoFit/>
          </a:bodyPr>
          <a:lstStyle/>
          <a:p>
            <a:pPr algn="l">
              <a:defRPr sz="1500" b="1">
                <a:solidFill>
                  <a:srgbClr val="19263B"/>
                </a:solidFill>
              </a:defRPr>
            </a:pPr>
            <a:r>
              <a:t>实验层</a:t>
            </a:r>
          </a:p>
        </p:txBody>
      </p:sp>
      <p:sp>
        <p:nvSpPr>
          <p:cNvPr id="6" name="TextBox 5"/>
          <p:cNvSpPr txBox="1"/>
          <p:nvPr/>
        </p:nvSpPr>
        <p:spPr>
          <a:xfrm>
            <a:off x="1005840" y="2331720"/>
            <a:ext cx="3291840" cy="2057400"/>
          </a:xfrm>
          <a:prstGeom prst="rect">
            <a:avLst/>
          </a:prstGeom>
          <a:noFill/>
        </p:spPr>
        <p:txBody>
          <a:bodyPr wrap="square">
            <a:spAutoFit/>
          </a:bodyPr>
          <a:lstStyle/>
          <a:p>
            <a:pPr>
              <a:spcAft>
                <a:spcPts val="800"/>
              </a:spcAft>
              <a:defRPr sz="1300">
                <a:solidFill>
                  <a:srgbClr val="2E3A4A"/>
                </a:solidFill>
              </a:defRPr>
            </a:pPr>
            <a:r>
              <a:t>• `scripts/run_experiment.sh` 统一 baseline/static 启动</a:t>
            </a:r>
          </a:p>
          <a:p>
            <a:pPr>
              <a:spcAft>
                <a:spcPts val="800"/>
              </a:spcAft>
              <a:defRPr sz="1300">
                <a:solidFill>
                  <a:srgbClr val="2E3A4A"/>
                </a:solidFill>
              </a:defRPr>
            </a:pPr>
            <a:r>
              <a:t>• preflight + topology + hostfile snapshot 固化实验条件</a:t>
            </a:r>
          </a:p>
        </p:txBody>
      </p:sp>
      <p:sp>
        <p:nvSpPr>
          <p:cNvPr id="7" name="Rounded Rectangle 6"/>
          <p:cNvSpPr/>
          <p:nvPr/>
        </p:nvSpPr>
        <p:spPr>
          <a:xfrm>
            <a:off x="4937760" y="1828800"/>
            <a:ext cx="3657600" cy="2743200"/>
          </a:xfrm>
          <a:prstGeom prst="roundRect">
            <a:avLst/>
          </a:prstGeom>
          <a:solidFill>
            <a:srgbClr val="EBF5F0"/>
          </a:solidFill>
          <a:ln>
            <a:solidFill>
              <a:srgbClr val="247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20640" y="1965960"/>
            <a:ext cx="3291840" cy="320040"/>
          </a:xfrm>
          <a:prstGeom prst="rect">
            <a:avLst/>
          </a:prstGeom>
          <a:noFill/>
        </p:spPr>
        <p:txBody>
          <a:bodyPr wrap="square" anchor="t">
            <a:spAutoFit/>
          </a:bodyPr>
          <a:lstStyle/>
          <a:p>
            <a:pPr algn="l">
              <a:defRPr sz="1500" b="1">
                <a:solidFill>
                  <a:srgbClr val="19263B"/>
                </a:solidFill>
              </a:defRPr>
            </a:pPr>
            <a:r>
              <a:t>观测层</a:t>
            </a:r>
          </a:p>
        </p:txBody>
      </p:sp>
      <p:sp>
        <p:nvSpPr>
          <p:cNvPr id="9" name="TextBox 8"/>
          <p:cNvSpPr txBox="1"/>
          <p:nvPr/>
        </p:nvSpPr>
        <p:spPr>
          <a:xfrm>
            <a:off x="5120640" y="2331720"/>
            <a:ext cx="3291840" cy="2057400"/>
          </a:xfrm>
          <a:prstGeom prst="rect">
            <a:avLst/>
          </a:prstGeom>
          <a:noFill/>
        </p:spPr>
        <p:txBody>
          <a:bodyPr wrap="square">
            <a:spAutoFit/>
          </a:bodyPr>
          <a:lstStyle/>
          <a:p>
            <a:pPr>
              <a:spcAft>
                <a:spcPts val="800"/>
              </a:spcAft>
              <a:defRPr sz="1300">
                <a:solidFill>
                  <a:srgbClr val="2E3A4A"/>
                </a:solidFill>
              </a:defRPr>
            </a:pPr>
            <a:r>
              <a:t>• Zeus 统一记录时间、平均功率、总能耗</a:t>
            </a:r>
          </a:p>
          <a:p>
            <a:pPr>
              <a:spcAft>
                <a:spcPts val="800"/>
              </a:spcAft>
              <a:defRPr sz="1300">
                <a:solidFill>
                  <a:srgbClr val="2E3A4A"/>
                </a:solidFill>
              </a:defRPr>
            </a:pPr>
            <a:r>
              <a:t>• run.json / events.jsonl 作为实验工件</a:t>
            </a:r>
          </a:p>
        </p:txBody>
      </p:sp>
      <p:sp>
        <p:nvSpPr>
          <p:cNvPr id="10" name="Rounded Rectangle 9"/>
          <p:cNvSpPr/>
          <p:nvPr/>
        </p:nvSpPr>
        <p:spPr>
          <a:xfrm>
            <a:off x="9052560" y="1828800"/>
            <a:ext cx="3657600" cy="2743200"/>
          </a:xfrm>
          <a:prstGeom prst="roundRect">
            <a:avLst/>
          </a:prstGeom>
          <a:solidFill>
            <a:srgbClr val="FCF3EB"/>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1965960"/>
            <a:ext cx="3291840" cy="320040"/>
          </a:xfrm>
          <a:prstGeom prst="rect">
            <a:avLst/>
          </a:prstGeom>
          <a:noFill/>
        </p:spPr>
        <p:txBody>
          <a:bodyPr wrap="square" anchor="t">
            <a:spAutoFit/>
          </a:bodyPr>
          <a:lstStyle/>
          <a:p>
            <a:pPr algn="l">
              <a:defRPr sz="1500" b="1">
                <a:solidFill>
                  <a:srgbClr val="19263B"/>
                </a:solidFill>
              </a:defRPr>
            </a:pPr>
            <a:r>
              <a:t>预测层</a:t>
            </a:r>
          </a:p>
        </p:txBody>
      </p:sp>
      <p:sp>
        <p:nvSpPr>
          <p:cNvPr id="12" name="TextBox 11"/>
          <p:cNvSpPr txBox="1"/>
          <p:nvPr/>
        </p:nvSpPr>
        <p:spPr>
          <a:xfrm>
            <a:off x="9235440" y="2331720"/>
            <a:ext cx="3291840" cy="2057400"/>
          </a:xfrm>
          <a:prstGeom prst="rect">
            <a:avLst/>
          </a:prstGeom>
          <a:noFill/>
        </p:spPr>
        <p:txBody>
          <a:bodyPr wrap="square">
            <a:spAutoFit/>
          </a:bodyPr>
          <a:lstStyle/>
          <a:p>
            <a:pPr>
              <a:spcAft>
                <a:spcPts val="800"/>
              </a:spcAft>
              <a:defRPr sz="1300">
                <a:solidFill>
                  <a:srgbClr val="2E3A4A"/>
                </a:solidFill>
              </a:defRPr>
            </a:pPr>
            <a:r>
              <a:t>• network benchmark 驱动连续 alpha 缩放</a:t>
            </a:r>
          </a:p>
          <a:p>
            <a:pPr>
              <a:spcAft>
                <a:spcPts val="800"/>
              </a:spcAft>
              <a:defRPr sz="1300">
                <a:solidFill>
                  <a:srgbClr val="2E3A4A"/>
                </a:solidFill>
              </a:defRPr>
            </a:pPr>
            <a:r>
              <a:t>• cluster-capacity 与 per-node power scaling 处理拓扑迁移</a:t>
            </a:r>
          </a:p>
        </p:txBody>
      </p:sp>
      <p:sp>
        <p:nvSpPr>
          <p:cNvPr id="13" name="Rounded Rectangle 12"/>
          <p:cNvSpPr/>
          <p:nvPr/>
        </p:nvSpPr>
        <p:spPr>
          <a:xfrm>
            <a:off x="1097280" y="5029200"/>
            <a:ext cx="12435840" cy="12801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5257800"/>
            <a:ext cx="11887200" cy="274320"/>
          </a:xfrm>
          <a:prstGeom prst="rect">
            <a:avLst/>
          </a:prstGeom>
          <a:noFill/>
        </p:spPr>
        <p:txBody>
          <a:bodyPr wrap="square" anchor="t">
            <a:spAutoFit/>
          </a:bodyPr>
          <a:lstStyle/>
          <a:p>
            <a:pPr algn="ctr">
              <a:defRPr sz="1800" b="1">
                <a:solidFill>
                  <a:srgbClr val="34568B"/>
                </a:solidFill>
              </a:defRPr>
            </a:pPr>
            <a:r>
              <a:t>跨节点时间近似写作：T_target = T_base + α_tp·V_tp + α_pp·V_pp + α_dp·V_dp</a:t>
            </a:r>
          </a:p>
        </p:txBody>
      </p:sp>
      <p:sp>
        <p:nvSpPr>
          <p:cNvPr id="15" name="TextBox 14"/>
          <p:cNvSpPr txBox="1"/>
          <p:nvPr/>
        </p:nvSpPr>
        <p:spPr>
          <a:xfrm>
            <a:off x="1371600" y="5650992"/>
            <a:ext cx="11887200" cy="256032"/>
          </a:xfrm>
          <a:prstGeom prst="rect">
            <a:avLst/>
          </a:prstGeom>
          <a:noFill/>
        </p:spPr>
        <p:txBody>
          <a:bodyPr wrap="square" anchor="t">
            <a:spAutoFit/>
          </a:bodyPr>
          <a:lstStyle/>
          <a:p>
            <a:pPr algn="ctr">
              <a:defRPr sz="1100" b="0">
                <a:solidFill>
                  <a:srgbClr val="6C757D"/>
                </a:solidFill>
              </a:defRPr>
            </a:pPr>
            <a:r>
              <a:t>关键点不是直接用 benchmark 时间替代预测，而是用 benchmark 推断当前拓扑的通信质量，再连续调整 cross-node penalty 参数。</a:t>
            </a:r>
          </a:p>
        </p:txBody>
      </p:sp>
      <p:sp>
        <p:nvSpPr>
          <p:cNvPr id="16" name="TextBox 15"/>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Method source: README.md, analysis/freq_model/*, 汇报总结_20260415/07_实现说明.md</a:t>
            </a:r>
          </a:p>
        </p:txBody>
      </p:sp>
      <p:sp>
        <p:nvSpPr>
          <p:cNvPr id="17" name="TextBox 16"/>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4. 实验环境与证据来源</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05840"/>
            <a:ext cx="13258800" cy="320040"/>
          </a:xfrm>
          <a:prstGeom prst="rect">
            <a:avLst/>
          </a:prstGeom>
          <a:noFill/>
        </p:spPr>
        <p:txBody>
          <a:bodyPr wrap="square" anchor="t">
            <a:spAutoFit/>
          </a:bodyPr>
          <a:lstStyle/>
          <a:p>
            <a:pPr algn="l">
              <a:defRPr sz="1200" b="0">
                <a:solidFill>
                  <a:srgbClr val="6C757D"/>
                </a:solidFill>
              </a:defRPr>
            </a:pPr>
            <a:r>
              <a:t>汇报中明确区分 artifact-backed 本地结果与 memory-bank preserved 历史摘要</a:t>
            </a:r>
          </a:p>
        </p:txBody>
      </p:sp>
      <p:graphicFrame>
        <p:nvGraphicFramePr>
          <p:cNvPr id="5" name="Table 4"/>
          <p:cNvGraphicFramePr>
            <a:graphicFrameLocks noGrp="1"/>
          </p:cNvGraphicFramePr>
          <p:nvPr/>
        </p:nvGraphicFramePr>
        <p:xfrm>
          <a:off x="731520" y="1554480"/>
          <a:ext cx="12344400" cy="3291840"/>
        </p:xfrm>
        <a:graphic>
          <a:graphicData uri="http://schemas.openxmlformats.org/drawingml/2006/table">
            <a:tbl>
              <a:tblPr firstRow="1" bandRow="1">
                <a:tableStyleId>{5C22544A-7EE6-4342-B048-85BDC9FD1C3A}</a:tableStyleId>
              </a:tblPr>
              <a:tblGrid>
                <a:gridCol w="2743200"/>
                <a:gridCol w="3474720"/>
                <a:gridCol w="2194560"/>
                <a:gridCol w="2560320"/>
                <a:gridCol w="1371600"/>
              </a:tblGrid>
              <a:tr h="658368">
                <a:tc>
                  <a:txBody>
                    <a:bodyPr/>
                    <a:lstStyle/>
                    <a:p>
                      <a:pPr algn="ctr">
                        <a:defRPr sz="1100" b="1">
                          <a:solidFill>
                            <a:srgbClr val="19263B"/>
                          </a:solidFill>
                        </a:defRPr>
                      </a:pPr>
                      <a:r>
                        <a:t>部分</a:t>
                      </a:r>
                    </a:p>
                  </a:txBody>
                  <a:tcPr>
                    <a:solidFill>
                      <a:srgbClr val="EBF1F9"/>
                    </a:solidFill>
                  </a:tcPr>
                </a:tc>
                <a:tc>
                  <a:txBody>
                    <a:bodyPr/>
                    <a:lstStyle/>
                    <a:p>
                      <a:pPr algn="ctr">
                        <a:defRPr sz="1100" b="1">
                          <a:solidFill>
                            <a:srgbClr val="19263B"/>
                          </a:solidFill>
                        </a:defRPr>
                      </a:pPr>
                      <a:r>
                        <a:t>平台 / 拓扑</a:t>
                      </a:r>
                    </a:p>
                  </a:txBody>
                  <a:tcPr>
                    <a:solidFill>
                      <a:srgbClr val="EBF1F9"/>
                    </a:solidFill>
                  </a:tcPr>
                </a:tc>
                <a:tc>
                  <a:txBody>
                    <a:bodyPr/>
                    <a:lstStyle/>
                    <a:p>
                      <a:pPr algn="ctr">
                        <a:defRPr sz="1100" b="1">
                          <a:solidFill>
                            <a:srgbClr val="19263B"/>
                          </a:solidFill>
                        </a:defRPr>
                      </a:pPr>
                      <a:r>
                        <a:t>用途</a:t>
                      </a:r>
                    </a:p>
                  </a:txBody>
                  <a:tcPr>
                    <a:solidFill>
                      <a:srgbClr val="EBF1F9"/>
                    </a:solidFill>
                  </a:tcPr>
                </a:tc>
                <a:tc>
                  <a:txBody>
                    <a:bodyPr/>
                    <a:lstStyle/>
                    <a:p>
                      <a:pPr algn="ctr">
                        <a:defRPr sz="1100" b="1">
                          <a:solidFill>
                            <a:srgbClr val="19263B"/>
                          </a:solidFill>
                        </a:defRPr>
                      </a:pPr>
                      <a:r>
                        <a:t>关键指标</a:t>
                      </a:r>
                    </a:p>
                  </a:txBody>
                  <a:tcPr>
                    <a:solidFill>
                      <a:srgbClr val="EBF1F9"/>
                    </a:solidFill>
                  </a:tcPr>
                </a:tc>
                <a:tc>
                  <a:txBody>
                    <a:bodyPr/>
                    <a:lstStyle/>
                    <a:p>
                      <a:pPr algn="ctr">
                        <a:defRPr sz="1100" b="1">
                          <a:solidFill>
                            <a:srgbClr val="19263B"/>
                          </a:solidFill>
                        </a:defRPr>
                      </a:pPr>
                      <a:r>
                        <a:t>证据等级</a:t>
                      </a:r>
                    </a:p>
                  </a:txBody>
                  <a:tcPr>
                    <a:solidFill>
                      <a:srgbClr val="EBF1F9"/>
                    </a:solidFill>
                  </a:tcPr>
                </a:tc>
              </a:tr>
              <a:tr h="658368">
                <a:tc>
                  <a:txBody>
                    <a:bodyPr/>
                    <a:lstStyle/>
                    <a:p>
                      <a:pPr algn="ctr">
                        <a:defRPr sz="1200" b="0">
                          <a:solidFill>
                            <a:srgbClr val="2E3A4A"/>
                          </a:solidFill>
                        </a:defRPr>
                      </a:pPr>
                      <a:r>
                        <a:t>Baseline vs Static 案例 A</a:t>
                      </a:r>
                    </a:p>
                  </a:txBody>
                  <a:tcPr>
                    <a:solidFill>
                      <a:srgbClr val="FFFFFF"/>
                    </a:solidFill>
                  </a:tcPr>
                </a:tc>
                <a:tc>
                  <a:txBody>
                    <a:bodyPr/>
                    <a:lstStyle/>
                    <a:p>
                      <a:pPr algn="ctr">
                        <a:defRPr sz="1200" b="0">
                          <a:solidFill>
                            <a:srgbClr val="2E3A4A"/>
                          </a:solidFill>
                        </a:defRPr>
                      </a:pPr>
                      <a:r>
                        <a:t>V100, TP=1/PP=4/DP=4</a:t>
                      </a:r>
                    </a:p>
                  </a:txBody>
                  <a:tcPr>
                    <a:solidFill>
                      <a:srgbClr val="FFFFFF"/>
                    </a:solidFill>
                  </a:tcPr>
                </a:tc>
                <a:tc>
                  <a:txBody>
                    <a:bodyPr/>
                    <a:lstStyle/>
                    <a:p>
                      <a:pPr algn="ctr">
                        <a:defRPr sz="1200" b="0">
                          <a:solidFill>
                            <a:srgbClr val="2E3A4A"/>
                          </a:solidFill>
                        </a:defRPr>
                      </a:pPr>
                      <a:r>
                        <a:t>受控能效对照</a:t>
                      </a:r>
                    </a:p>
                  </a:txBody>
                  <a:tcPr>
                    <a:solidFill>
                      <a:srgbClr val="FFFFFF"/>
                    </a:solidFill>
                  </a:tcPr>
                </a:tc>
                <a:tc>
                  <a:txBody>
                    <a:bodyPr/>
                    <a:lstStyle/>
                    <a:p>
                      <a:pPr algn="ctr">
                        <a:defRPr sz="1200" b="0">
                          <a:solidFill>
                            <a:srgbClr val="2E3A4A"/>
                          </a:solidFill>
                        </a:defRPr>
                      </a:pPr>
                      <a:r>
                        <a:t>time / power / energy</a:t>
                      </a:r>
                    </a:p>
                  </a:txBody>
                  <a:tcPr>
                    <a:solidFill>
                      <a:srgbClr val="FFFFFF"/>
                    </a:solidFill>
                  </a:tcPr>
                </a:tc>
                <a:tc>
                  <a:txBody>
                    <a:bodyPr/>
                    <a:lstStyle/>
                    <a:p>
                      <a:pPr algn="ctr">
                        <a:defRPr sz="1200" b="0">
                          <a:solidFill>
                            <a:srgbClr val="2E3A4A"/>
                          </a:solidFill>
                        </a:defRPr>
                      </a:pPr>
                      <a:r>
                        <a:t>B</a:t>
                      </a:r>
                    </a:p>
                  </a:txBody>
                  <a:tcPr>
                    <a:solidFill>
                      <a:srgbClr val="FFFFFF"/>
                    </a:solidFill>
                  </a:tcPr>
                </a:tc>
              </a:tr>
              <a:tr h="658368">
                <a:tc>
                  <a:txBody>
                    <a:bodyPr/>
                    <a:lstStyle/>
                    <a:p>
                      <a:pPr algn="ctr">
                        <a:defRPr sz="1200" b="0">
                          <a:solidFill>
                            <a:srgbClr val="2E3A4A"/>
                          </a:solidFill>
                        </a:defRPr>
                      </a:pPr>
                      <a:r>
                        <a:t>Baseline vs Static 案例 B</a:t>
                      </a:r>
                    </a:p>
                  </a:txBody>
                  <a:tcPr>
                    <a:solidFill>
                      <a:srgbClr val="FFFFFF"/>
                    </a:solidFill>
                  </a:tcPr>
                </a:tc>
                <a:tc>
                  <a:txBody>
                    <a:bodyPr/>
                    <a:lstStyle/>
                    <a:p>
                      <a:pPr algn="ctr">
                        <a:defRPr sz="1200" b="0">
                          <a:solidFill>
                            <a:srgbClr val="2E3A4A"/>
                          </a:solidFill>
                        </a:defRPr>
                      </a:pPr>
                      <a:r>
                        <a:t>V100, TP=2/PP=2/DP=4</a:t>
                      </a:r>
                    </a:p>
                  </a:txBody>
                  <a:tcPr>
                    <a:solidFill>
                      <a:srgbClr val="FFFFFF"/>
                    </a:solidFill>
                  </a:tcPr>
                </a:tc>
                <a:tc>
                  <a:txBody>
                    <a:bodyPr/>
                    <a:lstStyle/>
                    <a:p>
                      <a:pPr algn="ctr">
                        <a:defRPr sz="1200" b="0">
                          <a:solidFill>
                            <a:srgbClr val="2E3A4A"/>
                          </a:solidFill>
                        </a:defRPr>
                      </a:pPr>
                      <a:r>
                        <a:t>受控能效对照</a:t>
                      </a:r>
                    </a:p>
                  </a:txBody>
                  <a:tcPr>
                    <a:solidFill>
                      <a:srgbClr val="FFFFFF"/>
                    </a:solidFill>
                  </a:tcPr>
                </a:tc>
                <a:tc>
                  <a:txBody>
                    <a:bodyPr/>
                    <a:lstStyle/>
                    <a:p>
                      <a:pPr algn="ctr">
                        <a:defRPr sz="1200" b="0">
                          <a:solidFill>
                            <a:srgbClr val="2E3A4A"/>
                          </a:solidFill>
                        </a:defRPr>
                      </a:pPr>
                      <a:r>
                        <a:t>time / power / energy</a:t>
                      </a:r>
                    </a:p>
                  </a:txBody>
                  <a:tcPr>
                    <a:solidFill>
                      <a:srgbClr val="FFFFFF"/>
                    </a:solidFill>
                  </a:tcPr>
                </a:tc>
                <a:tc>
                  <a:txBody>
                    <a:bodyPr/>
                    <a:lstStyle/>
                    <a:p>
                      <a:pPr algn="ctr">
                        <a:defRPr sz="1200" b="0">
                          <a:solidFill>
                            <a:srgbClr val="2E3A4A"/>
                          </a:solidFill>
                        </a:defRPr>
                      </a:pPr>
                      <a:r>
                        <a:t>B+A</a:t>
                      </a:r>
                    </a:p>
                  </a:txBody>
                  <a:tcPr>
                    <a:solidFill>
                      <a:srgbClr val="FFFFFF"/>
                    </a:solidFill>
                  </a:tcPr>
                </a:tc>
              </a:tr>
              <a:tr h="658368">
                <a:tc>
                  <a:txBody>
                    <a:bodyPr/>
                    <a:lstStyle/>
                    <a:p>
                      <a:pPr algn="ctr">
                        <a:defRPr sz="1200" b="0">
                          <a:solidFill>
                            <a:srgbClr val="2E3A4A"/>
                          </a:solidFill>
                        </a:defRPr>
                      </a:pPr>
                      <a:r>
                        <a:t>IB formal replay</a:t>
                      </a:r>
                    </a:p>
                  </a:txBody>
                  <a:tcPr>
                    <a:solidFill>
                      <a:srgbClr val="FFFFFF"/>
                    </a:solidFill>
                  </a:tcPr>
                </a:tc>
                <a:tc>
                  <a:txBody>
                    <a:bodyPr/>
                    <a:lstStyle/>
                    <a:p>
                      <a:pPr algn="ctr">
                        <a:defRPr sz="1200" b="0">
                          <a:solidFill>
                            <a:srgbClr val="2E3A4A"/>
                          </a:solidFill>
                        </a:defRPr>
                      </a:pPr>
                      <a:r>
                        <a:t>V100, 2x4 -&gt; 2x8, IB</a:t>
                      </a:r>
                    </a:p>
                  </a:txBody>
                  <a:tcPr>
                    <a:solidFill>
                      <a:srgbClr val="FFFFFF"/>
                    </a:solidFill>
                  </a:tcPr>
                </a:tc>
                <a:tc>
                  <a:txBody>
                    <a:bodyPr/>
                    <a:lstStyle/>
                    <a:p>
                      <a:pPr algn="ctr">
                        <a:defRPr sz="1200" b="0">
                          <a:solidFill>
                            <a:srgbClr val="2E3A4A"/>
                          </a:solidFill>
                        </a:defRPr>
                      </a:pPr>
                      <a:r>
                        <a:t>predictor 准确性</a:t>
                      </a:r>
                    </a:p>
                  </a:txBody>
                  <a:tcPr>
                    <a:solidFill>
                      <a:srgbClr val="FFFFFF"/>
                    </a:solidFill>
                  </a:tcPr>
                </a:tc>
                <a:tc>
                  <a:txBody>
                    <a:bodyPr/>
                    <a:lstStyle/>
                    <a:p>
                      <a:pPr algn="ctr">
                        <a:defRPr sz="1200" b="0">
                          <a:solidFill>
                            <a:srgbClr val="2E3A4A"/>
                          </a:solidFill>
                        </a:defRPr>
                      </a:pPr>
                      <a:r>
                        <a:t>MAPE + per-point replay</a:t>
                      </a:r>
                    </a:p>
                  </a:txBody>
                  <a:tcPr>
                    <a:solidFill>
                      <a:srgbClr val="FFFFFF"/>
                    </a:solidFill>
                  </a:tcPr>
                </a:tc>
                <a:tc>
                  <a:txBody>
                    <a:bodyPr/>
                    <a:lstStyle/>
                    <a:p>
                      <a:pPr algn="ctr">
                        <a:defRPr sz="1200" b="0">
                          <a:solidFill>
                            <a:srgbClr val="2E3A4A"/>
                          </a:solidFill>
                        </a:defRPr>
                      </a:pPr>
                      <a:r>
                        <a:t>A</a:t>
                      </a:r>
                    </a:p>
                  </a:txBody>
                  <a:tcPr>
                    <a:solidFill>
                      <a:srgbClr val="FFFFFF"/>
                    </a:solidFill>
                  </a:tcPr>
                </a:tc>
              </a:tr>
              <a:tr h="658368">
                <a:tc>
                  <a:txBody>
                    <a:bodyPr/>
                    <a:lstStyle/>
                    <a:p>
                      <a:pPr algn="ctr">
                        <a:defRPr sz="1200" b="0">
                          <a:solidFill>
                            <a:srgbClr val="2E3A4A"/>
                          </a:solidFill>
                        </a:defRPr>
                      </a:pPr>
                      <a:r>
                        <a:t>Ethernet formal replay</a:t>
                      </a:r>
                    </a:p>
                  </a:txBody>
                  <a:tcPr>
                    <a:solidFill>
                      <a:srgbClr val="FFFFFF"/>
                    </a:solidFill>
                  </a:tcPr>
                </a:tc>
                <a:tc>
                  <a:txBody>
                    <a:bodyPr/>
                    <a:lstStyle/>
                    <a:p>
                      <a:pPr algn="ctr">
                        <a:defRPr sz="1200" b="0">
                          <a:solidFill>
                            <a:srgbClr val="2E3A4A"/>
                          </a:solidFill>
                        </a:defRPr>
                      </a:pPr>
                      <a:r>
                        <a:t>RTX 4080, 1x4 -&gt; 2x4, Eth</a:t>
                      </a:r>
                    </a:p>
                  </a:txBody>
                  <a:tcPr>
                    <a:solidFill>
                      <a:srgbClr val="FFFFFF"/>
                    </a:solidFill>
                  </a:tcPr>
                </a:tc>
                <a:tc>
                  <a:txBody>
                    <a:bodyPr/>
                    <a:lstStyle/>
                    <a:p>
                      <a:pPr algn="ctr">
                        <a:defRPr sz="1200" b="0">
                          <a:solidFill>
                            <a:srgbClr val="2E3A4A"/>
                          </a:solidFill>
                        </a:defRPr>
                      </a:pPr>
                      <a:r>
                        <a:t>predictor 泛化</a:t>
                      </a:r>
                    </a:p>
                  </a:txBody>
                  <a:tcPr>
                    <a:solidFill>
                      <a:srgbClr val="FFFFFF"/>
                    </a:solidFill>
                  </a:tcPr>
                </a:tc>
                <a:tc>
                  <a:txBody>
                    <a:bodyPr/>
                    <a:lstStyle/>
                    <a:p>
                      <a:pPr algn="ctr">
                        <a:defRPr sz="1200" b="0">
                          <a:solidFill>
                            <a:srgbClr val="2E3A4A"/>
                          </a:solidFill>
                        </a:defRPr>
                      </a:pPr>
                      <a:r>
                        <a:t>MAPE + per-point replay</a:t>
                      </a:r>
                    </a:p>
                  </a:txBody>
                  <a:tcPr>
                    <a:solidFill>
                      <a:srgbClr val="FFFFFF"/>
                    </a:solidFill>
                  </a:tcPr>
                </a:tc>
                <a:tc>
                  <a:txBody>
                    <a:bodyPr/>
                    <a:lstStyle/>
                    <a:p>
                      <a:pPr algn="ctr">
                        <a:defRPr sz="1200" b="0">
                          <a:solidFill>
                            <a:srgbClr val="2E3A4A"/>
                          </a:solidFill>
                        </a:defRPr>
                      </a:pPr>
                      <a:r>
                        <a:t>A</a:t>
                      </a:r>
                    </a:p>
                  </a:txBody>
                  <a:tcPr>
                    <a:solidFill>
                      <a:srgbClr val="FFFFFF"/>
                    </a:solidFill>
                  </a:tcPr>
                </a:tc>
              </a:tr>
            </a:tbl>
          </a:graphicData>
        </a:graphic>
      </p:graphicFrame>
      <p:sp>
        <p:nvSpPr>
          <p:cNvPr id="6" name="Rounded Rectangle 5"/>
          <p:cNvSpPr/>
          <p:nvPr/>
        </p:nvSpPr>
        <p:spPr>
          <a:xfrm>
            <a:off x="822960" y="5303520"/>
            <a:ext cx="6309360" cy="1508760"/>
          </a:xfrm>
          <a:prstGeom prst="roundRect">
            <a:avLst/>
          </a:prstGeom>
          <a:solidFill>
            <a:srgbClr val="FCF3EB"/>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5440680"/>
            <a:ext cx="5943600" cy="320040"/>
          </a:xfrm>
          <a:prstGeom prst="rect">
            <a:avLst/>
          </a:prstGeom>
          <a:noFill/>
        </p:spPr>
        <p:txBody>
          <a:bodyPr wrap="square" anchor="t">
            <a:spAutoFit/>
          </a:bodyPr>
          <a:lstStyle/>
          <a:p>
            <a:pPr algn="l">
              <a:defRPr sz="1500" b="1">
                <a:solidFill>
                  <a:srgbClr val="19263B"/>
                </a:solidFill>
              </a:defRPr>
            </a:pPr>
            <a:r>
              <a:t>为什么要写证据等级</a:t>
            </a:r>
          </a:p>
        </p:txBody>
      </p:sp>
      <p:sp>
        <p:nvSpPr>
          <p:cNvPr id="8" name="TextBox 7"/>
          <p:cNvSpPr txBox="1"/>
          <p:nvPr/>
        </p:nvSpPr>
        <p:spPr>
          <a:xfrm>
            <a:off x="1005840" y="5806440"/>
            <a:ext cx="5943600" cy="822959"/>
          </a:xfrm>
          <a:prstGeom prst="rect">
            <a:avLst/>
          </a:prstGeom>
          <a:noFill/>
        </p:spPr>
        <p:txBody>
          <a:bodyPr wrap="square">
            <a:spAutoFit/>
          </a:bodyPr>
          <a:lstStyle/>
          <a:p>
            <a:pPr>
              <a:spcAft>
                <a:spcPts val="800"/>
              </a:spcAft>
              <a:defRPr sz="1300">
                <a:solidFill>
                  <a:srgbClr val="2E3A4A"/>
                </a:solidFill>
              </a:defRPr>
            </a:pPr>
            <a:r>
              <a:t>• 避免把历史摘要误说成“当前本地完整工件”</a:t>
            </a:r>
          </a:p>
          <a:p>
            <a:pPr>
              <a:spcAft>
                <a:spcPts val="800"/>
              </a:spcAft>
              <a:defRPr sz="1300">
                <a:solidFill>
                  <a:srgbClr val="2E3A4A"/>
                </a:solidFill>
              </a:defRPr>
            </a:pPr>
            <a:r>
              <a:t>• 避免把不同拓扑/不同网络的结果混写成同一组结论</a:t>
            </a:r>
          </a:p>
        </p:txBody>
      </p:sp>
      <p:sp>
        <p:nvSpPr>
          <p:cNvPr id="9" name="Rounded Rectangle 8"/>
          <p:cNvSpPr/>
          <p:nvPr/>
        </p:nvSpPr>
        <p:spPr>
          <a:xfrm>
            <a:off x="7498079" y="5303520"/>
            <a:ext cx="6309360" cy="1508760"/>
          </a:xfrm>
          <a:prstGeom prst="roundRect">
            <a:avLst/>
          </a:prstGeom>
          <a:solidFill>
            <a:srgbClr val="EBF5F0"/>
          </a:solidFill>
          <a:ln>
            <a:solidFill>
              <a:srgbClr val="247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59" y="5440680"/>
            <a:ext cx="5943600" cy="320040"/>
          </a:xfrm>
          <a:prstGeom prst="rect">
            <a:avLst/>
          </a:prstGeom>
          <a:noFill/>
        </p:spPr>
        <p:txBody>
          <a:bodyPr wrap="square" anchor="t">
            <a:spAutoFit/>
          </a:bodyPr>
          <a:lstStyle/>
          <a:p>
            <a:pPr algn="l">
              <a:defRPr sz="1500" b="1">
                <a:solidFill>
                  <a:srgbClr val="19263B"/>
                </a:solidFill>
              </a:defRPr>
            </a:pPr>
            <a:r>
              <a:t>本次 deck 的学术化改写原则</a:t>
            </a:r>
          </a:p>
        </p:txBody>
      </p:sp>
      <p:sp>
        <p:nvSpPr>
          <p:cNvPr id="11" name="TextBox 10"/>
          <p:cNvSpPr txBox="1"/>
          <p:nvPr/>
        </p:nvSpPr>
        <p:spPr>
          <a:xfrm>
            <a:off x="7680959" y="5806440"/>
            <a:ext cx="5943600" cy="822959"/>
          </a:xfrm>
          <a:prstGeom prst="rect">
            <a:avLst/>
          </a:prstGeom>
          <a:noFill/>
        </p:spPr>
        <p:txBody>
          <a:bodyPr wrap="square">
            <a:spAutoFit/>
          </a:bodyPr>
          <a:lstStyle/>
          <a:p>
            <a:pPr>
              <a:spcAft>
                <a:spcPts val="800"/>
              </a:spcAft>
              <a:defRPr sz="1300">
                <a:solidFill>
                  <a:srgbClr val="2E3A4A"/>
                </a:solidFill>
              </a:defRPr>
            </a:pPr>
            <a:r>
              <a:t>• 所有 headline 前面都有支撑页</a:t>
            </a:r>
          </a:p>
          <a:p>
            <a:pPr>
              <a:spcAft>
                <a:spcPts val="800"/>
              </a:spcAft>
              <a:defRPr sz="1300">
                <a:solidFill>
                  <a:srgbClr val="2E3A4A"/>
                </a:solidFill>
              </a:defRPr>
            </a:pPr>
            <a:r>
              <a:t>• 所有 predictor 结果都明确写明 topology 与 transport</a:t>
            </a:r>
          </a:p>
        </p:txBody>
      </p:sp>
      <p:sp>
        <p:nvSpPr>
          <p:cNvPr id="12" name="TextBox 11"/>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Evidence source: 汇报总结_20260415/05_证据清单.md, .context/paper/experimental_data.md</a:t>
            </a:r>
          </a:p>
        </p:txBody>
      </p:sp>
      <p:sp>
        <p:nvSpPr>
          <p:cNvPr id="13" name="TextBox 12"/>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案例 A：V100 双机 `TP=1, PP=4, DP=4`</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05840"/>
            <a:ext cx="13258800" cy="320040"/>
          </a:xfrm>
          <a:prstGeom prst="rect">
            <a:avLst/>
          </a:prstGeom>
          <a:noFill/>
        </p:spPr>
        <p:txBody>
          <a:bodyPr wrap="square" anchor="t">
            <a:spAutoFit/>
          </a:bodyPr>
          <a:lstStyle/>
          <a:p>
            <a:pPr algn="l">
              <a:defRPr sz="1200" b="0">
                <a:solidFill>
                  <a:srgbClr val="6C757D"/>
                </a:solidFill>
              </a:defRPr>
            </a:pPr>
            <a:r>
              <a:t>Megatron-DeepSpeed baseline 与 static 对照；Zeus 历史摘要保存在 memory-bank</a:t>
            </a:r>
          </a:p>
        </p:txBody>
      </p:sp>
      <p:sp>
        <p:nvSpPr>
          <p:cNvPr id="5" name="Rounded Rectangle 4"/>
          <p:cNvSpPr/>
          <p:nvPr/>
        </p:nvSpPr>
        <p:spPr>
          <a:xfrm>
            <a:off x="685800" y="1554480"/>
            <a:ext cx="7818120" cy="443484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664207"/>
            <a:ext cx="7488936" cy="256032"/>
          </a:xfrm>
          <a:prstGeom prst="rect">
            <a:avLst/>
          </a:prstGeom>
          <a:noFill/>
        </p:spPr>
        <p:txBody>
          <a:bodyPr wrap="square" anchor="t">
            <a:spAutoFit/>
          </a:bodyPr>
          <a:lstStyle/>
          <a:p>
            <a:pPr algn="l">
              <a:defRPr sz="1300" b="1">
                <a:solidFill>
                  <a:srgbClr val="19263B"/>
                </a:solidFill>
              </a:defRPr>
            </a:pPr>
            <a:r>
              <a:t>相对 baseline 的变化 (%)</a:t>
            </a:r>
          </a:p>
        </p:txBody>
      </p:sp>
      <p:sp>
        <p:nvSpPr>
          <p:cNvPr id="7" name="TextBox 6"/>
          <p:cNvSpPr txBox="1"/>
          <p:nvPr/>
        </p:nvSpPr>
        <p:spPr>
          <a:xfrm>
            <a:off x="850392" y="1901952"/>
            <a:ext cx="7488936" cy="201168"/>
          </a:xfrm>
          <a:prstGeom prst="rect">
            <a:avLst/>
          </a:prstGeom>
          <a:noFill/>
        </p:spPr>
        <p:txBody>
          <a:bodyPr wrap="square" anchor="t">
            <a:spAutoFit/>
          </a:bodyPr>
          <a:lstStyle/>
          <a:p>
            <a:pPr algn="l">
              <a:defRPr sz="900" b="0">
                <a:solidFill>
                  <a:srgbClr val="6C757D"/>
                </a:solidFill>
              </a:defRPr>
            </a:pPr>
            <a:r>
              <a:t>负值更优；图中所有频点都与同一 baseline 对比</a:t>
            </a:r>
          </a:p>
        </p:txBody>
      </p:sp>
      <p:graphicFrame>
        <p:nvGraphicFramePr>
          <p:cNvPr id="8" name="Chart 7"/>
          <p:cNvGraphicFramePr>
            <a:graphicFrameLocks noGrp="1"/>
          </p:cNvGraphicFramePr>
          <p:nvPr/>
        </p:nvGraphicFramePr>
        <p:xfrm>
          <a:off x="795528" y="2157984"/>
          <a:ext cx="7598664" cy="3721607"/>
        </p:xfrm>
        <a:graphic>
          <a:graphicData uri="http://schemas.openxmlformats.org/drawingml/2006/chart">
            <c:chart xmlns:c="http://schemas.openxmlformats.org/drawingml/2006/chart" xmlns:r="http://schemas.openxmlformats.org/officeDocument/2006/relationships" r:id="rId1"/>
          </a:graphicData>
        </a:graphic>
      </p:graphicFrame>
      <p:sp>
        <p:nvSpPr>
          <p:cNvPr id="9" name="Rounded Rectangle 8"/>
          <p:cNvSpPr/>
          <p:nvPr/>
        </p:nvSpPr>
        <p:spPr>
          <a:xfrm>
            <a:off x="8778240" y="1554480"/>
            <a:ext cx="4663440" cy="1463040"/>
          </a:xfrm>
          <a:prstGeom prst="roundRect">
            <a:avLst/>
          </a:prstGeom>
          <a:solidFill>
            <a:srgbClr val="EBF1F9"/>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19" y="1691639"/>
            <a:ext cx="4297679" cy="320040"/>
          </a:xfrm>
          <a:prstGeom prst="rect">
            <a:avLst/>
          </a:prstGeom>
          <a:noFill/>
        </p:spPr>
        <p:txBody>
          <a:bodyPr wrap="square" anchor="t">
            <a:spAutoFit/>
          </a:bodyPr>
          <a:lstStyle/>
          <a:p>
            <a:pPr algn="l">
              <a:defRPr sz="1300" b="1">
                <a:solidFill>
                  <a:srgbClr val="19263B"/>
                </a:solidFill>
              </a:defRPr>
            </a:pPr>
            <a:r>
              <a:t>Baseline 锚点</a:t>
            </a:r>
          </a:p>
        </p:txBody>
      </p:sp>
      <p:sp>
        <p:nvSpPr>
          <p:cNvPr id="11" name="TextBox 10"/>
          <p:cNvSpPr txBox="1"/>
          <p:nvPr/>
        </p:nvSpPr>
        <p:spPr>
          <a:xfrm>
            <a:off x="8961119" y="2057400"/>
            <a:ext cx="4297679" cy="777240"/>
          </a:xfrm>
          <a:prstGeom prst="rect">
            <a:avLst/>
          </a:prstGeom>
          <a:noFill/>
        </p:spPr>
        <p:txBody>
          <a:bodyPr wrap="square">
            <a:spAutoFit/>
          </a:bodyPr>
          <a:lstStyle/>
          <a:p>
            <a:pPr>
              <a:spcAft>
                <a:spcPts val="800"/>
              </a:spcAft>
              <a:defRPr sz="1100">
                <a:solidFill>
                  <a:srgbClr val="2E3A4A"/>
                </a:solidFill>
              </a:defRPr>
            </a:pPr>
            <a:r>
              <a:t>• time = 1316.7 s</a:t>
            </a:r>
          </a:p>
          <a:p>
            <a:pPr>
              <a:spcAft>
                <a:spcPts val="800"/>
              </a:spcAft>
              <a:defRPr sz="1100">
                <a:solidFill>
                  <a:srgbClr val="2E3A4A"/>
                </a:solidFill>
              </a:defRPr>
            </a:pPr>
            <a:r>
              <a:t>• avg power = 3170.6 W</a:t>
            </a:r>
          </a:p>
          <a:p>
            <a:pPr>
              <a:spcAft>
                <a:spcPts val="800"/>
              </a:spcAft>
              <a:defRPr sz="1100">
                <a:solidFill>
                  <a:srgbClr val="2E3A4A"/>
                </a:solidFill>
              </a:defRPr>
            </a:pPr>
            <a:r>
              <a:t>• energy = 4174.6 kJ</a:t>
            </a:r>
          </a:p>
        </p:txBody>
      </p:sp>
      <p:graphicFrame>
        <p:nvGraphicFramePr>
          <p:cNvPr id="12" name="Table 11"/>
          <p:cNvGraphicFramePr>
            <a:graphicFrameLocks noGrp="1"/>
          </p:cNvGraphicFramePr>
          <p:nvPr/>
        </p:nvGraphicFramePr>
        <p:xfrm>
          <a:off x="8641080" y="3154680"/>
          <a:ext cx="4892040" cy="2697480"/>
        </p:xfrm>
        <a:graphic>
          <a:graphicData uri="http://schemas.openxmlformats.org/drawingml/2006/table">
            <a:tbl>
              <a:tblPr firstRow="1" bandRow="1">
                <a:tableStyleId>{5C22544A-7EE6-4342-B048-85BDC9FD1C3A}</a:tableStyleId>
              </a:tblPr>
              <a:tblGrid>
                <a:gridCol w="1737360"/>
                <a:gridCol w="1051560"/>
                <a:gridCol w="1051560"/>
                <a:gridCol w="1051560"/>
              </a:tblGrid>
              <a:tr h="674370">
                <a:tc>
                  <a:txBody>
                    <a:bodyPr/>
                    <a:lstStyle/>
                    <a:p>
                      <a:pPr algn="ctr">
                        <a:defRPr sz="1000" b="1">
                          <a:solidFill>
                            <a:srgbClr val="19263B"/>
                          </a:solidFill>
                        </a:defRPr>
                      </a:pPr>
                      <a:r>
                        <a:t>频点</a:t>
                      </a:r>
                    </a:p>
                  </a:txBody>
                  <a:tcPr>
                    <a:solidFill>
                      <a:srgbClr val="EBF1F9"/>
                    </a:solidFill>
                  </a:tcPr>
                </a:tc>
                <a:tc>
                  <a:txBody>
                    <a:bodyPr/>
                    <a:lstStyle/>
                    <a:p>
                      <a:pPr algn="ctr">
                        <a:defRPr sz="1000" b="1">
                          <a:solidFill>
                            <a:srgbClr val="19263B"/>
                          </a:solidFill>
                        </a:defRPr>
                      </a:pPr>
                      <a:r>
                        <a:t>ΔTime</a:t>
                      </a:r>
                    </a:p>
                  </a:txBody>
                  <a:tcPr>
                    <a:solidFill>
                      <a:srgbClr val="EBF1F9"/>
                    </a:solidFill>
                  </a:tcPr>
                </a:tc>
                <a:tc>
                  <a:txBody>
                    <a:bodyPr/>
                    <a:lstStyle/>
                    <a:p>
                      <a:pPr algn="ctr">
                        <a:defRPr sz="1000" b="1">
                          <a:solidFill>
                            <a:srgbClr val="19263B"/>
                          </a:solidFill>
                        </a:defRPr>
                      </a:pPr>
                      <a:r>
                        <a:t>ΔPower</a:t>
                      </a:r>
                    </a:p>
                  </a:txBody>
                  <a:tcPr>
                    <a:solidFill>
                      <a:srgbClr val="EBF1F9"/>
                    </a:solidFill>
                  </a:tcPr>
                </a:tc>
                <a:tc>
                  <a:txBody>
                    <a:bodyPr/>
                    <a:lstStyle/>
                    <a:p>
                      <a:pPr algn="ctr">
                        <a:defRPr sz="1000" b="1">
                          <a:solidFill>
                            <a:srgbClr val="19263B"/>
                          </a:solidFill>
                        </a:defRPr>
                      </a:pPr>
                      <a:r>
                        <a:t>ΔEnergy</a:t>
                      </a:r>
                    </a:p>
                  </a:txBody>
                  <a:tcPr>
                    <a:solidFill>
                      <a:srgbClr val="EBF1F9"/>
                    </a:solidFill>
                  </a:tcPr>
                </a:tc>
              </a:tr>
              <a:tr h="674370">
                <a:tc>
                  <a:txBody>
                    <a:bodyPr/>
                    <a:lstStyle/>
                    <a:p>
                      <a:pPr algn="ctr">
                        <a:defRPr sz="1100" b="0">
                          <a:solidFill>
                            <a:srgbClr val="2E3A4A"/>
                          </a:solidFill>
                        </a:defRPr>
                      </a:pPr>
                      <a:r>
                        <a:t>1252 MHz</a:t>
                      </a:r>
                    </a:p>
                  </a:txBody>
                  <a:tcPr>
                    <a:solidFill>
                      <a:srgbClr val="FFFFFF"/>
                    </a:solidFill>
                  </a:tcPr>
                </a:tc>
                <a:tc>
                  <a:txBody>
                    <a:bodyPr/>
                    <a:lstStyle/>
                    <a:p>
                      <a:pPr algn="ctr">
                        <a:defRPr sz="1100" b="0">
                          <a:solidFill>
                            <a:srgbClr val="2E3A4A"/>
                          </a:solidFill>
                        </a:defRPr>
                      </a:pPr>
                      <a:r>
                        <a:t>-1.3%</a:t>
                      </a:r>
                    </a:p>
                  </a:txBody>
                  <a:tcPr>
                    <a:solidFill>
                      <a:srgbClr val="FFFFFF"/>
                    </a:solidFill>
                  </a:tcPr>
                </a:tc>
                <a:tc>
                  <a:txBody>
                    <a:bodyPr/>
                    <a:lstStyle/>
                    <a:p>
                      <a:pPr algn="ctr">
                        <a:defRPr sz="1100" b="0">
                          <a:solidFill>
                            <a:srgbClr val="2E3A4A"/>
                          </a:solidFill>
                        </a:defRPr>
                      </a:pPr>
                      <a:r>
                        <a:t>-25.3%</a:t>
                      </a:r>
                    </a:p>
                  </a:txBody>
                  <a:tcPr>
                    <a:solidFill>
                      <a:srgbClr val="EBF5F0"/>
                    </a:solidFill>
                  </a:tcPr>
                </a:tc>
                <a:tc>
                  <a:txBody>
                    <a:bodyPr/>
                    <a:lstStyle/>
                    <a:p>
                      <a:pPr algn="ctr">
                        <a:defRPr sz="1100" b="0">
                          <a:solidFill>
                            <a:srgbClr val="2E3A4A"/>
                          </a:solidFill>
                        </a:defRPr>
                      </a:pPr>
                      <a:r>
                        <a:t>-26.3%</a:t>
                      </a:r>
                    </a:p>
                  </a:txBody>
                  <a:tcPr>
                    <a:solidFill>
                      <a:srgbClr val="EBF5F0"/>
                    </a:solidFill>
                  </a:tcPr>
                </a:tc>
              </a:tr>
              <a:tr h="674370">
                <a:tc>
                  <a:txBody>
                    <a:bodyPr/>
                    <a:lstStyle/>
                    <a:p>
                      <a:pPr algn="ctr">
                        <a:defRPr sz="1100" b="0">
                          <a:solidFill>
                            <a:srgbClr val="2E3A4A"/>
                          </a:solidFill>
                        </a:defRPr>
                      </a:pPr>
                      <a:r>
                        <a:t>1260 MHz</a:t>
                      </a:r>
                    </a:p>
                  </a:txBody>
                  <a:tcPr>
                    <a:solidFill>
                      <a:srgbClr val="FFFFFF"/>
                    </a:solidFill>
                  </a:tcPr>
                </a:tc>
                <a:tc>
                  <a:txBody>
                    <a:bodyPr/>
                    <a:lstStyle/>
                    <a:p>
                      <a:pPr algn="ctr">
                        <a:defRPr sz="1100" b="0">
                          <a:solidFill>
                            <a:srgbClr val="2E3A4A"/>
                          </a:solidFill>
                        </a:defRPr>
                      </a:pPr>
                      <a:r>
                        <a:t>-2.2%</a:t>
                      </a:r>
                    </a:p>
                  </a:txBody>
                  <a:tcPr>
                    <a:solidFill>
                      <a:srgbClr val="FFFFFF"/>
                    </a:solidFill>
                  </a:tcPr>
                </a:tc>
                <a:tc>
                  <a:txBody>
                    <a:bodyPr/>
                    <a:lstStyle/>
                    <a:p>
                      <a:pPr algn="ctr">
                        <a:defRPr sz="1100" b="0">
                          <a:solidFill>
                            <a:srgbClr val="2E3A4A"/>
                          </a:solidFill>
                        </a:defRPr>
                      </a:pPr>
                      <a:r>
                        <a:t>-24.9%</a:t>
                      </a:r>
                    </a:p>
                  </a:txBody>
                  <a:tcPr>
                    <a:solidFill>
                      <a:srgbClr val="EBF5F0"/>
                    </a:solidFill>
                  </a:tcPr>
                </a:tc>
                <a:tc>
                  <a:txBody>
                    <a:bodyPr/>
                    <a:lstStyle/>
                    <a:p>
                      <a:pPr algn="ctr">
                        <a:defRPr sz="1100" b="0">
                          <a:solidFill>
                            <a:srgbClr val="2E3A4A"/>
                          </a:solidFill>
                        </a:defRPr>
                      </a:pPr>
                      <a:r>
                        <a:t>-26.5%</a:t>
                      </a:r>
                    </a:p>
                  </a:txBody>
                  <a:tcPr>
                    <a:solidFill>
                      <a:srgbClr val="EBF5F0"/>
                    </a:solidFill>
                  </a:tcPr>
                </a:tc>
              </a:tr>
              <a:tr h="674370">
                <a:tc>
                  <a:txBody>
                    <a:bodyPr/>
                    <a:lstStyle/>
                    <a:p>
                      <a:pPr algn="ctr">
                        <a:defRPr sz="1100" b="0">
                          <a:solidFill>
                            <a:srgbClr val="2E3A4A"/>
                          </a:solidFill>
                        </a:defRPr>
                      </a:pPr>
                      <a:r>
                        <a:t>1267 MHz</a:t>
                      </a:r>
                    </a:p>
                  </a:txBody>
                  <a:tcPr>
                    <a:solidFill>
                      <a:srgbClr val="FFFFFF"/>
                    </a:solidFill>
                  </a:tcPr>
                </a:tc>
                <a:tc>
                  <a:txBody>
                    <a:bodyPr/>
                    <a:lstStyle/>
                    <a:p>
                      <a:pPr algn="ctr">
                        <a:defRPr sz="1100" b="0">
                          <a:solidFill>
                            <a:srgbClr val="2E3A4A"/>
                          </a:solidFill>
                        </a:defRPr>
                      </a:pPr>
                      <a:r>
                        <a:t>-2.3%</a:t>
                      </a:r>
                    </a:p>
                  </a:txBody>
                  <a:tcPr>
                    <a:solidFill>
                      <a:srgbClr val="FFFFFF"/>
                    </a:solidFill>
                  </a:tcPr>
                </a:tc>
                <a:tc>
                  <a:txBody>
                    <a:bodyPr/>
                    <a:lstStyle/>
                    <a:p>
                      <a:pPr algn="ctr">
                        <a:defRPr sz="1100" b="0">
                          <a:solidFill>
                            <a:srgbClr val="2E3A4A"/>
                          </a:solidFill>
                        </a:defRPr>
                      </a:pPr>
                      <a:r>
                        <a:t>-24.1%</a:t>
                      </a:r>
                    </a:p>
                  </a:txBody>
                  <a:tcPr>
                    <a:solidFill>
                      <a:srgbClr val="EBF5F0"/>
                    </a:solidFill>
                  </a:tcPr>
                </a:tc>
                <a:tc>
                  <a:txBody>
                    <a:bodyPr/>
                    <a:lstStyle/>
                    <a:p>
                      <a:pPr algn="ctr">
                        <a:defRPr sz="1100" b="0">
                          <a:solidFill>
                            <a:srgbClr val="2E3A4A"/>
                          </a:solidFill>
                        </a:defRPr>
                      </a:pPr>
                      <a:r>
                        <a:t>-25.8%</a:t>
                      </a:r>
                    </a:p>
                  </a:txBody>
                  <a:tcPr>
                    <a:solidFill>
                      <a:srgbClr val="EBF5F0"/>
                    </a:solidFill>
                  </a:tcPr>
                </a:tc>
              </a:tr>
            </a:tbl>
          </a:graphicData>
        </a:graphic>
      </p:graphicFrame>
      <p:sp>
        <p:nvSpPr>
          <p:cNvPr id="13" name="Rounded Rectangle 12"/>
          <p:cNvSpPr/>
          <p:nvPr/>
        </p:nvSpPr>
        <p:spPr>
          <a:xfrm>
            <a:off x="822960" y="6144768"/>
            <a:ext cx="6400800" cy="1261872"/>
          </a:xfrm>
          <a:prstGeom prst="roundRect">
            <a:avLst/>
          </a:prstGeom>
          <a:solidFill>
            <a:srgbClr val="EBF5F0"/>
          </a:solidFill>
          <a:ln>
            <a:solidFill>
              <a:srgbClr val="247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6281928"/>
            <a:ext cx="6035040" cy="320040"/>
          </a:xfrm>
          <a:prstGeom prst="rect">
            <a:avLst/>
          </a:prstGeom>
          <a:noFill/>
        </p:spPr>
        <p:txBody>
          <a:bodyPr wrap="square" anchor="t">
            <a:spAutoFit/>
          </a:bodyPr>
          <a:lstStyle/>
          <a:p>
            <a:pPr algn="l">
              <a:defRPr sz="1300" b="1">
                <a:solidFill>
                  <a:srgbClr val="19263B"/>
                </a:solidFill>
              </a:defRPr>
            </a:pPr>
            <a:r>
              <a:t>关键观察</a:t>
            </a:r>
          </a:p>
        </p:txBody>
      </p:sp>
      <p:sp>
        <p:nvSpPr>
          <p:cNvPr id="15" name="TextBox 14"/>
          <p:cNvSpPr txBox="1"/>
          <p:nvPr/>
        </p:nvSpPr>
        <p:spPr>
          <a:xfrm>
            <a:off x="1005840" y="6647688"/>
            <a:ext cx="6035040" cy="576071"/>
          </a:xfrm>
          <a:prstGeom prst="rect">
            <a:avLst/>
          </a:prstGeom>
          <a:noFill/>
        </p:spPr>
        <p:txBody>
          <a:bodyPr wrap="square">
            <a:spAutoFit/>
          </a:bodyPr>
          <a:lstStyle/>
          <a:p>
            <a:pPr>
              <a:spcAft>
                <a:spcPts val="800"/>
              </a:spcAft>
              <a:defRPr sz="1100">
                <a:solidFill>
                  <a:srgbClr val="2E3A4A"/>
                </a:solidFill>
              </a:defRPr>
            </a:pPr>
            <a:r>
              <a:t>• runtime 变化范围：-2.3% 到 -1.3%</a:t>
            </a:r>
          </a:p>
          <a:p>
            <a:pPr>
              <a:spcAft>
                <a:spcPts val="800"/>
              </a:spcAft>
              <a:defRPr sz="1100">
                <a:solidFill>
                  <a:srgbClr val="2E3A4A"/>
                </a:solidFill>
              </a:defRPr>
            </a:pPr>
            <a:r>
              <a:t>• 平均功率 / 总能耗：-25.3%~-24.1% / -26.5%~-25.8%</a:t>
            </a:r>
          </a:p>
        </p:txBody>
      </p:sp>
      <p:sp>
        <p:nvSpPr>
          <p:cNvPr id="16" name="Rounded Rectangle 15"/>
          <p:cNvSpPr/>
          <p:nvPr/>
        </p:nvSpPr>
        <p:spPr>
          <a:xfrm>
            <a:off x="7498079" y="6144768"/>
            <a:ext cx="6309360" cy="1261872"/>
          </a:xfrm>
          <a:prstGeom prst="roundRect">
            <a:avLst/>
          </a:prstGeom>
          <a:solidFill>
            <a:srgbClr val="EBF1F9"/>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59" y="6281928"/>
            <a:ext cx="5943600" cy="320040"/>
          </a:xfrm>
          <a:prstGeom prst="rect">
            <a:avLst/>
          </a:prstGeom>
          <a:noFill/>
        </p:spPr>
        <p:txBody>
          <a:bodyPr wrap="square" anchor="t">
            <a:spAutoFit/>
          </a:bodyPr>
          <a:lstStyle/>
          <a:p>
            <a:pPr algn="l">
              <a:defRPr sz="1300" b="1">
                <a:solidFill>
                  <a:srgbClr val="19263B"/>
                </a:solidFill>
              </a:defRPr>
            </a:pPr>
            <a:r>
              <a:t>最佳折中点与支撑范围</a:t>
            </a:r>
          </a:p>
        </p:txBody>
      </p:sp>
      <p:sp>
        <p:nvSpPr>
          <p:cNvPr id="18" name="TextBox 17"/>
          <p:cNvSpPr txBox="1"/>
          <p:nvPr/>
        </p:nvSpPr>
        <p:spPr>
          <a:xfrm>
            <a:off x="7680959" y="6647688"/>
            <a:ext cx="5943600" cy="576071"/>
          </a:xfrm>
          <a:prstGeom prst="rect">
            <a:avLst/>
          </a:prstGeom>
          <a:noFill/>
        </p:spPr>
        <p:txBody>
          <a:bodyPr wrap="square">
            <a:spAutoFit/>
          </a:bodyPr>
          <a:lstStyle/>
          <a:p>
            <a:pPr>
              <a:spcAft>
                <a:spcPts val="800"/>
              </a:spcAft>
              <a:defRPr sz="1100">
                <a:solidFill>
                  <a:srgbClr val="2E3A4A"/>
                </a:solidFill>
              </a:defRPr>
            </a:pPr>
            <a:r>
              <a:t>• 1260 MHz: -2.2% / -24.9% / -26.5%</a:t>
            </a:r>
          </a:p>
          <a:p>
            <a:pPr>
              <a:spcAft>
                <a:spcPts val="800"/>
              </a:spcAft>
              <a:defRPr sz="1100">
                <a:solidFill>
                  <a:srgbClr val="2E3A4A"/>
                </a:solidFill>
              </a:defRPr>
            </a:pPr>
            <a:r>
              <a:t>• 证据等级 B：memory-bank/observability preserved Zeus summaries</a:t>
            </a:r>
          </a:p>
        </p:txBody>
      </p:sp>
      <p:sp>
        <p:nvSpPr>
          <p:cNvPr id="19" name="TextBox 18"/>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Comparison source: 汇报总结_20260415/05_证据清单.md</a:t>
            </a:r>
          </a:p>
        </p:txBody>
      </p:sp>
      <p:sp>
        <p:nvSpPr>
          <p:cNvPr id="20" name="TextBox 19"/>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案例 B：V100 双机 `TP=2, PP=2, DP=4`</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05840"/>
            <a:ext cx="13258800" cy="320040"/>
          </a:xfrm>
          <a:prstGeom prst="rect">
            <a:avLst/>
          </a:prstGeom>
          <a:noFill/>
        </p:spPr>
        <p:txBody>
          <a:bodyPr wrap="square" anchor="t">
            <a:spAutoFit/>
          </a:bodyPr>
          <a:lstStyle/>
          <a:p>
            <a:pPr algn="l">
              <a:defRPr sz="1200" b="0">
                <a:solidFill>
                  <a:srgbClr val="6C757D"/>
                </a:solidFill>
              </a:defRPr>
            </a:pPr>
            <a:r>
              <a:t>Megatron-DeepSpeed baseline 与 static 对照；Zeus 历史摘要保存在 memory-bank</a:t>
            </a:r>
          </a:p>
        </p:txBody>
      </p:sp>
      <p:sp>
        <p:nvSpPr>
          <p:cNvPr id="5" name="Rounded Rectangle 4"/>
          <p:cNvSpPr/>
          <p:nvPr/>
        </p:nvSpPr>
        <p:spPr>
          <a:xfrm>
            <a:off x="685800" y="1554480"/>
            <a:ext cx="7818120" cy="443484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664207"/>
            <a:ext cx="7488936" cy="256032"/>
          </a:xfrm>
          <a:prstGeom prst="rect">
            <a:avLst/>
          </a:prstGeom>
          <a:noFill/>
        </p:spPr>
        <p:txBody>
          <a:bodyPr wrap="square" anchor="t">
            <a:spAutoFit/>
          </a:bodyPr>
          <a:lstStyle/>
          <a:p>
            <a:pPr algn="l">
              <a:defRPr sz="1300" b="1">
                <a:solidFill>
                  <a:srgbClr val="19263B"/>
                </a:solidFill>
              </a:defRPr>
            </a:pPr>
            <a:r>
              <a:t>相对 baseline 的变化 (%)</a:t>
            </a:r>
          </a:p>
        </p:txBody>
      </p:sp>
      <p:sp>
        <p:nvSpPr>
          <p:cNvPr id="7" name="TextBox 6"/>
          <p:cNvSpPr txBox="1"/>
          <p:nvPr/>
        </p:nvSpPr>
        <p:spPr>
          <a:xfrm>
            <a:off x="850392" y="1901952"/>
            <a:ext cx="7488936" cy="201168"/>
          </a:xfrm>
          <a:prstGeom prst="rect">
            <a:avLst/>
          </a:prstGeom>
          <a:noFill/>
        </p:spPr>
        <p:txBody>
          <a:bodyPr wrap="square" anchor="t">
            <a:spAutoFit/>
          </a:bodyPr>
          <a:lstStyle/>
          <a:p>
            <a:pPr algn="l">
              <a:defRPr sz="900" b="0">
                <a:solidFill>
                  <a:srgbClr val="6C757D"/>
                </a:solidFill>
              </a:defRPr>
            </a:pPr>
            <a:r>
              <a:t>负值更优；图中所有频点都与同一 baseline 对比</a:t>
            </a:r>
          </a:p>
        </p:txBody>
      </p:sp>
      <p:graphicFrame>
        <p:nvGraphicFramePr>
          <p:cNvPr id="8" name="Chart 7"/>
          <p:cNvGraphicFramePr>
            <a:graphicFrameLocks noGrp="1"/>
          </p:cNvGraphicFramePr>
          <p:nvPr/>
        </p:nvGraphicFramePr>
        <p:xfrm>
          <a:off x="795528" y="2157984"/>
          <a:ext cx="7598664" cy="3721607"/>
        </p:xfrm>
        <a:graphic>
          <a:graphicData uri="http://schemas.openxmlformats.org/drawingml/2006/chart">
            <c:chart xmlns:c="http://schemas.openxmlformats.org/drawingml/2006/chart" xmlns:r="http://schemas.openxmlformats.org/officeDocument/2006/relationships" r:id="rId1"/>
          </a:graphicData>
        </a:graphic>
      </p:graphicFrame>
      <p:sp>
        <p:nvSpPr>
          <p:cNvPr id="9" name="Rounded Rectangle 8"/>
          <p:cNvSpPr/>
          <p:nvPr/>
        </p:nvSpPr>
        <p:spPr>
          <a:xfrm>
            <a:off x="8778240" y="1554480"/>
            <a:ext cx="4663440" cy="1463040"/>
          </a:xfrm>
          <a:prstGeom prst="roundRect">
            <a:avLst/>
          </a:prstGeom>
          <a:solidFill>
            <a:srgbClr val="EBF1F9"/>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19" y="1691639"/>
            <a:ext cx="4297679" cy="320040"/>
          </a:xfrm>
          <a:prstGeom prst="rect">
            <a:avLst/>
          </a:prstGeom>
          <a:noFill/>
        </p:spPr>
        <p:txBody>
          <a:bodyPr wrap="square" anchor="t">
            <a:spAutoFit/>
          </a:bodyPr>
          <a:lstStyle/>
          <a:p>
            <a:pPr algn="l">
              <a:defRPr sz="1300" b="1">
                <a:solidFill>
                  <a:srgbClr val="19263B"/>
                </a:solidFill>
              </a:defRPr>
            </a:pPr>
            <a:r>
              <a:t>Baseline 锚点</a:t>
            </a:r>
          </a:p>
        </p:txBody>
      </p:sp>
      <p:sp>
        <p:nvSpPr>
          <p:cNvPr id="11" name="TextBox 10"/>
          <p:cNvSpPr txBox="1"/>
          <p:nvPr/>
        </p:nvSpPr>
        <p:spPr>
          <a:xfrm>
            <a:off x="8961119" y="2057400"/>
            <a:ext cx="4297679" cy="777240"/>
          </a:xfrm>
          <a:prstGeom prst="rect">
            <a:avLst/>
          </a:prstGeom>
          <a:noFill/>
        </p:spPr>
        <p:txBody>
          <a:bodyPr wrap="square">
            <a:spAutoFit/>
          </a:bodyPr>
          <a:lstStyle/>
          <a:p>
            <a:pPr>
              <a:spcAft>
                <a:spcPts val="800"/>
              </a:spcAft>
              <a:defRPr sz="1100">
                <a:solidFill>
                  <a:srgbClr val="2E3A4A"/>
                </a:solidFill>
              </a:defRPr>
            </a:pPr>
            <a:r>
              <a:t>• time = 1030.6 s</a:t>
            </a:r>
          </a:p>
          <a:p>
            <a:pPr>
              <a:spcAft>
                <a:spcPts val="800"/>
              </a:spcAft>
              <a:defRPr sz="1100">
                <a:solidFill>
                  <a:srgbClr val="2E3A4A"/>
                </a:solidFill>
              </a:defRPr>
            </a:pPr>
            <a:r>
              <a:t>• avg power = 3686.1 W</a:t>
            </a:r>
          </a:p>
          <a:p>
            <a:pPr>
              <a:spcAft>
                <a:spcPts val="800"/>
              </a:spcAft>
              <a:defRPr sz="1100">
                <a:solidFill>
                  <a:srgbClr val="2E3A4A"/>
                </a:solidFill>
              </a:defRPr>
            </a:pPr>
            <a:r>
              <a:t>• energy = 3798.9 kJ</a:t>
            </a:r>
          </a:p>
        </p:txBody>
      </p:sp>
      <p:graphicFrame>
        <p:nvGraphicFramePr>
          <p:cNvPr id="12" name="Table 11"/>
          <p:cNvGraphicFramePr>
            <a:graphicFrameLocks noGrp="1"/>
          </p:cNvGraphicFramePr>
          <p:nvPr/>
        </p:nvGraphicFramePr>
        <p:xfrm>
          <a:off x="8641080" y="3154680"/>
          <a:ext cx="4892040" cy="2697480"/>
        </p:xfrm>
        <a:graphic>
          <a:graphicData uri="http://schemas.openxmlformats.org/drawingml/2006/table">
            <a:tbl>
              <a:tblPr firstRow="1" bandRow="1">
                <a:tableStyleId>{5C22544A-7EE6-4342-B048-85BDC9FD1C3A}</a:tableStyleId>
              </a:tblPr>
              <a:tblGrid>
                <a:gridCol w="1737360"/>
                <a:gridCol w="1051560"/>
                <a:gridCol w="1051560"/>
                <a:gridCol w="1051560"/>
              </a:tblGrid>
              <a:tr h="539496">
                <a:tc>
                  <a:txBody>
                    <a:bodyPr/>
                    <a:lstStyle/>
                    <a:p>
                      <a:pPr algn="ctr">
                        <a:defRPr sz="1000" b="1">
                          <a:solidFill>
                            <a:srgbClr val="19263B"/>
                          </a:solidFill>
                        </a:defRPr>
                      </a:pPr>
                      <a:r>
                        <a:t>频点</a:t>
                      </a:r>
                    </a:p>
                  </a:txBody>
                  <a:tcPr>
                    <a:solidFill>
                      <a:srgbClr val="EBF1F9"/>
                    </a:solidFill>
                  </a:tcPr>
                </a:tc>
                <a:tc>
                  <a:txBody>
                    <a:bodyPr/>
                    <a:lstStyle/>
                    <a:p>
                      <a:pPr algn="ctr">
                        <a:defRPr sz="1000" b="1">
                          <a:solidFill>
                            <a:srgbClr val="19263B"/>
                          </a:solidFill>
                        </a:defRPr>
                      </a:pPr>
                      <a:r>
                        <a:t>ΔTime</a:t>
                      </a:r>
                    </a:p>
                  </a:txBody>
                  <a:tcPr>
                    <a:solidFill>
                      <a:srgbClr val="EBF1F9"/>
                    </a:solidFill>
                  </a:tcPr>
                </a:tc>
                <a:tc>
                  <a:txBody>
                    <a:bodyPr/>
                    <a:lstStyle/>
                    <a:p>
                      <a:pPr algn="ctr">
                        <a:defRPr sz="1000" b="1">
                          <a:solidFill>
                            <a:srgbClr val="19263B"/>
                          </a:solidFill>
                        </a:defRPr>
                      </a:pPr>
                      <a:r>
                        <a:t>ΔPower</a:t>
                      </a:r>
                    </a:p>
                  </a:txBody>
                  <a:tcPr>
                    <a:solidFill>
                      <a:srgbClr val="EBF1F9"/>
                    </a:solidFill>
                  </a:tcPr>
                </a:tc>
                <a:tc>
                  <a:txBody>
                    <a:bodyPr/>
                    <a:lstStyle/>
                    <a:p>
                      <a:pPr algn="ctr">
                        <a:defRPr sz="1000" b="1">
                          <a:solidFill>
                            <a:srgbClr val="19263B"/>
                          </a:solidFill>
                        </a:defRPr>
                      </a:pPr>
                      <a:r>
                        <a:t>ΔEnergy</a:t>
                      </a:r>
                    </a:p>
                  </a:txBody>
                  <a:tcPr>
                    <a:solidFill>
                      <a:srgbClr val="EBF1F9"/>
                    </a:solidFill>
                  </a:tcPr>
                </a:tc>
              </a:tr>
              <a:tr h="539496">
                <a:tc>
                  <a:txBody>
                    <a:bodyPr/>
                    <a:lstStyle/>
                    <a:p>
                      <a:pPr algn="ctr">
                        <a:defRPr sz="1100" b="0">
                          <a:solidFill>
                            <a:srgbClr val="2E3A4A"/>
                          </a:solidFill>
                        </a:defRPr>
                      </a:pPr>
                      <a:r>
                        <a:t>1072 MHz</a:t>
                      </a:r>
                    </a:p>
                  </a:txBody>
                  <a:tcPr>
                    <a:solidFill>
                      <a:srgbClr val="FFFFFF"/>
                    </a:solidFill>
                  </a:tcPr>
                </a:tc>
                <a:tc>
                  <a:txBody>
                    <a:bodyPr/>
                    <a:lstStyle/>
                    <a:p>
                      <a:pPr algn="ctr">
                        <a:defRPr sz="1100" b="0">
                          <a:solidFill>
                            <a:srgbClr val="2E3A4A"/>
                          </a:solidFill>
                        </a:defRPr>
                      </a:pPr>
                      <a:r>
                        <a:t>+2.2%</a:t>
                      </a:r>
                    </a:p>
                  </a:txBody>
                  <a:tcPr>
                    <a:solidFill>
                      <a:srgbClr val="FFFFFF"/>
                    </a:solidFill>
                  </a:tcPr>
                </a:tc>
                <a:tc>
                  <a:txBody>
                    <a:bodyPr/>
                    <a:lstStyle/>
                    <a:p>
                      <a:pPr algn="ctr">
                        <a:defRPr sz="1100" b="0">
                          <a:solidFill>
                            <a:srgbClr val="2E3A4A"/>
                          </a:solidFill>
                        </a:defRPr>
                      </a:pPr>
                      <a:r>
                        <a:t>-36.3%</a:t>
                      </a:r>
                    </a:p>
                  </a:txBody>
                  <a:tcPr>
                    <a:solidFill>
                      <a:srgbClr val="EBF5F0"/>
                    </a:solidFill>
                  </a:tcPr>
                </a:tc>
                <a:tc>
                  <a:txBody>
                    <a:bodyPr/>
                    <a:lstStyle/>
                    <a:p>
                      <a:pPr algn="ctr">
                        <a:defRPr sz="1100" b="0">
                          <a:solidFill>
                            <a:srgbClr val="2E3A4A"/>
                          </a:solidFill>
                        </a:defRPr>
                      </a:pPr>
                      <a:r>
                        <a:t>-34.8%</a:t>
                      </a:r>
                    </a:p>
                  </a:txBody>
                  <a:tcPr>
                    <a:solidFill>
                      <a:srgbClr val="EBF5F0"/>
                    </a:solidFill>
                  </a:tcPr>
                </a:tc>
              </a:tr>
              <a:tr h="539496">
                <a:tc>
                  <a:txBody>
                    <a:bodyPr/>
                    <a:lstStyle/>
                    <a:p>
                      <a:pPr algn="ctr">
                        <a:defRPr sz="1100" b="0">
                          <a:solidFill>
                            <a:srgbClr val="2E3A4A"/>
                          </a:solidFill>
                        </a:defRPr>
                      </a:pPr>
                      <a:r>
                        <a:t>1080 MHz</a:t>
                      </a:r>
                    </a:p>
                  </a:txBody>
                  <a:tcPr>
                    <a:solidFill>
                      <a:srgbClr val="FFFFFF"/>
                    </a:solidFill>
                  </a:tcPr>
                </a:tc>
                <a:tc>
                  <a:txBody>
                    <a:bodyPr/>
                    <a:lstStyle/>
                    <a:p>
                      <a:pPr algn="ctr">
                        <a:defRPr sz="1100" b="0">
                          <a:solidFill>
                            <a:srgbClr val="2E3A4A"/>
                          </a:solidFill>
                        </a:defRPr>
                      </a:pPr>
                      <a:r>
                        <a:t>+1.5%</a:t>
                      </a:r>
                    </a:p>
                  </a:txBody>
                  <a:tcPr>
                    <a:solidFill>
                      <a:srgbClr val="FFFFFF"/>
                    </a:solidFill>
                  </a:tcPr>
                </a:tc>
                <a:tc>
                  <a:txBody>
                    <a:bodyPr/>
                    <a:lstStyle/>
                    <a:p>
                      <a:pPr algn="ctr">
                        <a:defRPr sz="1100" b="0">
                          <a:solidFill>
                            <a:srgbClr val="2E3A4A"/>
                          </a:solidFill>
                        </a:defRPr>
                      </a:pPr>
                      <a:r>
                        <a:t>-35.9%</a:t>
                      </a:r>
                    </a:p>
                  </a:txBody>
                  <a:tcPr>
                    <a:solidFill>
                      <a:srgbClr val="EBF5F0"/>
                    </a:solidFill>
                  </a:tcPr>
                </a:tc>
                <a:tc>
                  <a:txBody>
                    <a:bodyPr/>
                    <a:lstStyle/>
                    <a:p>
                      <a:pPr algn="ctr">
                        <a:defRPr sz="1100" b="0">
                          <a:solidFill>
                            <a:srgbClr val="2E3A4A"/>
                          </a:solidFill>
                        </a:defRPr>
                      </a:pPr>
                      <a:r>
                        <a:t>-34.9%</a:t>
                      </a:r>
                    </a:p>
                  </a:txBody>
                  <a:tcPr>
                    <a:solidFill>
                      <a:srgbClr val="EBF5F0"/>
                    </a:solidFill>
                  </a:tcPr>
                </a:tc>
              </a:tr>
              <a:tr h="539496">
                <a:tc>
                  <a:txBody>
                    <a:bodyPr/>
                    <a:lstStyle/>
                    <a:p>
                      <a:pPr algn="ctr">
                        <a:defRPr sz="1100" b="0">
                          <a:solidFill>
                            <a:srgbClr val="2E3A4A"/>
                          </a:solidFill>
                        </a:defRPr>
                      </a:pPr>
                      <a:r>
                        <a:t>1087 MHz</a:t>
                      </a:r>
                    </a:p>
                  </a:txBody>
                  <a:tcPr>
                    <a:solidFill>
                      <a:srgbClr val="FFFFFF"/>
                    </a:solidFill>
                  </a:tcPr>
                </a:tc>
                <a:tc>
                  <a:txBody>
                    <a:bodyPr/>
                    <a:lstStyle/>
                    <a:p>
                      <a:pPr algn="ctr">
                        <a:defRPr sz="1100" b="0">
                          <a:solidFill>
                            <a:srgbClr val="2E3A4A"/>
                          </a:solidFill>
                        </a:defRPr>
                      </a:pPr>
                      <a:r>
                        <a:t>+0.9%</a:t>
                      </a:r>
                    </a:p>
                  </a:txBody>
                  <a:tcPr>
                    <a:solidFill>
                      <a:srgbClr val="FFFFFF"/>
                    </a:solidFill>
                  </a:tcPr>
                </a:tc>
                <a:tc>
                  <a:txBody>
                    <a:bodyPr/>
                    <a:lstStyle/>
                    <a:p>
                      <a:pPr algn="ctr">
                        <a:defRPr sz="1100" b="0">
                          <a:solidFill>
                            <a:srgbClr val="2E3A4A"/>
                          </a:solidFill>
                        </a:defRPr>
                      </a:pPr>
                      <a:r>
                        <a:t>-35.3%</a:t>
                      </a:r>
                    </a:p>
                  </a:txBody>
                  <a:tcPr>
                    <a:solidFill>
                      <a:srgbClr val="EBF5F0"/>
                    </a:solidFill>
                  </a:tcPr>
                </a:tc>
                <a:tc>
                  <a:txBody>
                    <a:bodyPr/>
                    <a:lstStyle/>
                    <a:p>
                      <a:pPr algn="ctr">
                        <a:defRPr sz="1100" b="0">
                          <a:solidFill>
                            <a:srgbClr val="2E3A4A"/>
                          </a:solidFill>
                        </a:defRPr>
                      </a:pPr>
                      <a:r>
                        <a:t>-34.7%</a:t>
                      </a:r>
                    </a:p>
                  </a:txBody>
                  <a:tcPr>
                    <a:solidFill>
                      <a:srgbClr val="EBF5F0"/>
                    </a:solidFill>
                  </a:tcPr>
                </a:tc>
              </a:tr>
              <a:tr h="539496">
                <a:tc>
                  <a:txBody>
                    <a:bodyPr/>
                    <a:lstStyle/>
                    <a:p>
                      <a:pPr algn="ctr">
                        <a:defRPr sz="1100" b="0">
                          <a:solidFill>
                            <a:srgbClr val="2E3A4A"/>
                          </a:solidFill>
                        </a:defRPr>
                      </a:pPr>
                      <a:r>
                        <a:t>1125 MHz</a:t>
                      </a:r>
                    </a:p>
                  </a:txBody>
                  <a:tcPr>
                    <a:solidFill>
                      <a:srgbClr val="FFFFFF"/>
                    </a:solidFill>
                  </a:tcPr>
                </a:tc>
                <a:tc>
                  <a:txBody>
                    <a:bodyPr/>
                    <a:lstStyle/>
                    <a:p>
                      <a:pPr algn="ctr">
                        <a:defRPr sz="1100" b="0">
                          <a:solidFill>
                            <a:srgbClr val="2E3A4A"/>
                          </a:solidFill>
                        </a:defRPr>
                      </a:pPr>
                      <a:r>
                        <a:t>-2.4%</a:t>
                      </a:r>
                    </a:p>
                  </a:txBody>
                  <a:tcPr>
                    <a:solidFill>
                      <a:srgbClr val="FFFFFF"/>
                    </a:solidFill>
                  </a:tcPr>
                </a:tc>
                <a:tc>
                  <a:txBody>
                    <a:bodyPr/>
                    <a:lstStyle/>
                    <a:p>
                      <a:pPr algn="ctr">
                        <a:defRPr sz="1100" b="0">
                          <a:solidFill>
                            <a:srgbClr val="2E3A4A"/>
                          </a:solidFill>
                        </a:defRPr>
                      </a:pPr>
                      <a:r>
                        <a:t>-32.8%</a:t>
                      </a:r>
                    </a:p>
                  </a:txBody>
                  <a:tcPr>
                    <a:solidFill>
                      <a:srgbClr val="EBF5F0"/>
                    </a:solidFill>
                  </a:tcPr>
                </a:tc>
                <a:tc>
                  <a:txBody>
                    <a:bodyPr/>
                    <a:lstStyle/>
                    <a:p>
                      <a:pPr algn="ctr">
                        <a:defRPr sz="1100" b="0">
                          <a:solidFill>
                            <a:srgbClr val="2E3A4A"/>
                          </a:solidFill>
                        </a:defRPr>
                      </a:pPr>
                      <a:r>
                        <a:t>-34.4%</a:t>
                      </a:r>
                    </a:p>
                  </a:txBody>
                  <a:tcPr>
                    <a:solidFill>
                      <a:srgbClr val="EBF5F0"/>
                    </a:solidFill>
                  </a:tcPr>
                </a:tc>
              </a:tr>
            </a:tbl>
          </a:graphicData>
        </a:graphic>
      </p:graphicFrame>
      <p:sp>
        <p:nvSpPr>
          <p:cNvPr id="13" name="Rounded Rectangle 12"/>
          <p:cNvSpPr/>
          <p:nvPr/>
        </p:nvSpPr>
        <p:spPr>
          <a:xfrm>
            <a:off x="822960" y="6144768"/>
            <a:ext cx="6400800" cy="1261872"/>
          </a:xfrm>
          <a:prstGeom prst="roundRect">
            <a:avLst/>
          </a:prstGeom>
          <a:solidFill>
            <a:srgbClr val="EBF5F0"/>
          </a:solidFill>
          <a:ln>
            <a:solidFill>
              <a:srgbClr val="247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6281928"/>
            <a:ext cx="6035040" cy="320040"/>
          </a:xfrm>
          <a:prstGeom prst="rect">
            <a:avLst/>
          </a:prstGeom>
          <a:noFill/>
        </p:spPr>
        <p:txBody>
          <a:bodyPr wrap="square" anchor="t">
            <a:spAutoFit/>
          </a:bodyPr>
          <a:lstStyle/>
          <a:p>
            <a:pPr algn="l">
              <a:defRPr sz="1300" b="1">
                <a:solidFill>
                  <a:srgbClr val="19263B"/>
                </a:solidFill>
              </a:defRPr>
            </a:pPr>
            <a:r>
              <a:t>关键观察</a:t>
            </a:r>
          </a:p>
        </p:txBody>
      </p:sp>
      <p:sp>
        <p:nvSpPr>
          <p:cNvPr id="15" name="TextBox 14"/>
          <p:cNvSpPr txBox="1"/>
          <p:nvPr/>
        </p:nvSpPr>
        <p:spPr>
          <a:xfrm>
            <a:off x="1005840" y="6647688"/>
            <a:ext cx="6035040" cy="576071"/>
          </a:xfrm>
          <a:prstGeom prst="rect">
            <a:avLst/>
          </a:prstGeom>
          <a:noFill/>
        </p:spPr>
        <p:txBody>
          <a:bodyPr wrap="square">
            <a:spAutoFit/>
          </a:bodyPr>
          <a:lstStyle/>
          <a:p>
            <a:pPr>
              <a:spcAft>
                <a:spcPts val="800"/>
              </a:spcAft>
              <a:defRPr sz="1100">
                <a:solidFill>
                  <a:srgbClr val="2E3A4A"/>
                </a:solidFill>
              </a:defRPr>
            </a:pPr>
            <a:r>
              <a:t>• runtime 变化范围：-2.4% 到 +2.2%</a:t>
            </a:r>
          </a:p>
          <a:p>
            <a:pPr>
              <a:spcAft>
                <a:spcPts val="800"/>
              </a:spcAft>
              <a:defRPr sz="1100">
                <a:solidFill>
                  <a:srgbClr val="2E3A4A"/>
                </a:solidFill>
              </a:defRPr>
            </a:pPr>
            <a:r>
              <a:t>• 平均功率 / 总能耗：-36.3%~-32.8% / -34.9%~-34.4%</a:t>
            </a:r>
          </a:p>
        </p:txBody>
      </p:sp>
      <p:sp>
        <p:nvSpPr>
          <p:cNvPr id="16" name="Rounded Rectangle 15"/>
          <p:cNvSpPr/>
          <p:nvPr/>
        </p:nvSpPr>
        <p:spPr>
          <a:xfrm>
            <a:off x="7498079" y="6144768"/>
            <a:ext cx="6309360" cy="1261872"/>
          </a:xfrm>
          <a:prstGeom prst="roundRect">
            <a:avLst/>
          </a:prstGeom>
          <a:solidFill>
            <a:srgbClr val="EBF1F9"/>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59" y="6281928"/>
            <a:ext cx="5943600" cy="320040"/>
          </a:xfrm>
          <a:prstGeom prst="rect">
            <a:avLst/>
          </a:prstGeom>
          <a:noFill/>
        </p:spPr>
        <p:txBody>
          <a:bodyPr wrap="square" anchor="t">
            <a:spAutoFit/>
          </a:bodyPr>
          <a:lstStyle/>
          <a:p>
            <a:pPr algn="l">
              <a:defRPr sz="1300" b="1">
                <a:solidFill>
                  <a:srgbClr val="19263B"/>
                </a:solidFill>
              </a:defRPr>
            </a:pPr>
            <a:r>
              <a:t>最佳折中点与支撑范围</a:t>
            </a:r>
          </a:p>
        </p:txBody>
      </p:sp>
      <p:sp>
        <p:nvSpPr>
          <p:cNvPr id="18" name="TextBox 17"/>
          <p:cNvSpPr txBox="1"/>
          <p:nvPr/>
        </p:nvSpPr>
        <p:spPr>
          <a:xfrm>
            <a:off x="7680959" y="6647688"/>
            <a:ext cx="5943600" cy="576071"/>
          </a:xfrm>
          <a:prstGeom prst="rect">
            <a:avLst/>
          </a:prstGeom>
          <a:noFill/>
        </p:spPr>
        <p:txBody>
          <a:bodyPr wrap="square">
            <a:spAutoFit/>
          </a:bodyPr>
          <a:lstStyle/>
          <a:p>
            <a:pPr>
              <a:spcAft>
                <a:spcPts val="800"/>
              </a:spcAft>
              <a:defRPr sz="1100">
                <a:solidFill>
                  <a:srgbClr val="2E3A4A"/>
                </a:solidFill>
              </a:defRPr>
            </a:pPr>
            <a:r>
              <a:t>• 1080 MHz: +1.5% / -35.9% / -34.9%</a:t>
            </a:r>
          </a:p>
          <a:p>
            <a:pPr>
              <a:spcAft>
                <a:spcPts val="800"/>
              </a:spcAft>
              <a:defRPr sz="1100">
                <a:solidFill>
                  <a:srgbClr val="2E3A4A"/>
                </a:solidFill>
              </a:defRPr>
            </a:pPr>
            <a:r>
              <a:t>• 证据等级 B：baseline summary in memory-bank, with partial local static artifacts</a:t>
            </a:r>
          </a:p>
        </p:txBody>
      </p:sp>
      <p:sp>
        <p:nvSpPr>
          <p:cNvPr id="19" name="TextBox 18"/>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Comparison source: 汇报总结_20260415/05_证据清单.md</a:t>
            </a:r>
          </a:p>
        </p:txBody>
      </p:sp>
      <p:sp>
        <p:nvSpPr>
          <p:cNvPr id="20" name="TextBox 19"/>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7. 受控对照实验的可支撑结论</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554480"/>
            <a:ext cx="2926080" cy="17373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10512"/>
            <a:ext cx="2926080" cy="502920"/>
          </a:xfrm>
          <a:prstGeom prst="rect">
            <a:avLst/>
          </a:prstGeom>
          <a:noFill/>
        </p:spPr>
        <p:txBody>
          <a:bodyPr wrap="square" anchor="t">
            <a:spAutoFit/>
          </a:bodyPr>
          <a:lstStyle/>
          <a:p>
            <a:pPr algn="ctr">
              <a:defRPr sz="2600" b="1">
                <a:solidFill>
                  <a:srgbClr val="34568B"/>
                </a:solidFill>
              </a:defRPr>
            </a:pPr>
            <a:r>
              <a:t>-2.4% ~ +2.2%</a:t>
            </a:r>
          </a:p>
        </p:txBody>
      </p:sp>
      <p:sp>
        <p:nvSpPr>
          <p:cNvPr id="6" name="TextBox 5"/>
          <p:cNvSpPr txBox="1"/>
          <p:nvPr/>
        </p:nvSpPr>
        <p:spPr>
          <a:xfrm>
            <a:off x="822960" y="2395728"/>
            <a:ext cx="2926080" cy="274320"/>
          </a:xfrm>
          <a:prstGeom prst="rect">
            <a:avLst/>
          </a:prstGeom>
          <a:noFill/>
        </p:spPr>
        <p:txBody>
          <a:bodyPr wrap="square" anchor="t">
            <a:spAutoFit/>
          </a:bodyPr>
          <a:lstStyle/>
          <a:p>
            <a:pPr algn="ctr">
              <a:defRPr sz="1300" b="1">
                <a:solidFill>
                  <a:srgbClr val="19263B"/>
                </a:solidFill>
              </a:defRPr>
            </a:pPr>
            <a:r>
              <a:t>runtime 相对 baseline</a:t>
            </a:r>
          </a:p>
        </p:txBody>
      </p:sp>
      <p:sp>
        <p:nvSpPr>
          <p:cNvPr id="7" name="TextBox 6"/>
          <p:cNvSpPr txBox="1"/>
          <p:nvPr/>
        </p:nvSpPr>
        <p:spPr>
          <a:xfrm>
            <a:off x="960120" y="2670048"/>
            <a:ext cx="2651760" cy="384048"/>
          </a:xfrm>
          <a:prstGeom prst="rect">
            <a:avLst/>
          </a:prstGeom>
          <a:noFill/>
        </p:spPr>
        <p:txBody>
          <a:bodyPr wrap="square" anchor="t">
            <a:spAutoFit/>
          </a:bodyPr>
          <a:lstStyle/>
          <a:p>
            <a:pPr algn="ctr">
              <a:defRPr sz="1000" b="0">
                <a:solidFill>
                  <a:srgbClr val="6C757D"/>
                </a:solidFill>
              </a:defRPr>
            </a:pPr>
            <a:r>
              <a:t>时间大多保持在 baseline 附近</a:t>
            </a:r>
          </a:p>
        </p:txBody>
      </p:sp>
      <p:sp>
        <p:nvSpPr>
          <p:cNvPr id="8" name="Rounded Rectangle 7"/>
          <p:cNvSpPr/>
          <p:nvPr/>
        </p:nvSpPr>
        <p:spPr>
          <a:xfrm>
            <a:off x="4023360" y="1554480"/>
            <a:ext cx="2926080" cy="17373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0" y="1810512"/>
            <a:ext cx="2926080" cy="502920"/>
          </a:xfrm>
          <a:prstGeom prst="rect">
            <a:avLst/>
          </a:prstGeom>
          <a:noFill/>
        </p:spPr>
        <p:txBody>
          <a:bodyPr wrap="square" anchor="t">
            <a:spAutoFit/>
          </a:bodyPr>
          <a:lstStyle/>
          <a:p>
            <a:pPr algn="ctr">
              <a:defRPr sz="2600" b="1">
                <a:solidFill>
                  <a:srgbClr val="24795D"/>
                </a:solidFill>
              </a:defRPr>
            </a:pPr>
            <a:r>
              <a:t>-24.1% ~ -36.3%</a:t>
            </a:r>
          </a:p>
        </p:txBody>
      </p:sp>
      <p:sp>
        <p:nvSpPr>
          <p:cNvPr id="10" name="TextBox 9"/>
          <p:cNvSpPr txBox="1"/>
          <p:nvPr/>
        </p:nvSpPr>
        <p:spPr>
          <a:xfrm>
            <a:off x="4023360" y="2395728"/>
            <a:ext cx="2926080" cy="274320"/>
          </a:xfrm>
          <a:prstGeom prst="rect">
            <a:avLst/>
          </a:prstGeom>
          <a:noFill/>
        </p:spPr>
        <p:txBody>
          <a:bodyPr wrap="square" anchor="t">
            <a:spAutoFit/>
          </a:bodyPr>
          <a:lstStyle/>
          <a:p>
            <a:pPr algn="ctr">
              <a:defRPr sz="1300" b="1">
                <a:solidFill>
                  <a:srgbClr val="19263B"/>
                </a:solidFill>
              </a:defRPr>
            </a:pPr>
            <a:r>
              <a:t>avg power 相对 baseline</a:t>
            </a:r>
          </a:p>
        </p:txBody>
      </p:sp>
      <p:sp>
        <p:nvSpPr>
          <p:cNvPr id="11" name="TextBox 10"/>
          <p:cNvSpPr txBox="1"/>
          <p:nvPr/>
        </p:nvSpPr>
        <p:spPr>
          <a:xfrm>
            <a:off x="4160520" y="2670048"/>
            <a:ext cx="2651760" cy="384048"/>
          </a:xfrm>
          <a:prstGeom prst="rect">
            <a:avLst/>
          </a:prstGeom>
          <a:noFill/>
        </p:spPr>
        <p:txBody>
          <a:bodyPr wrap="square" anchor="t">
            <a:spAutoFit/>
          </a:bodyPr>
          <a:lstStyle/>
          <a:p>
            <a:pPr algn="ctr">
              <a:defRPr sz="1000" b="0">
                <a:solidFill>
                  <a:srgbClr val="6C757D"/>
                </a:solidFill>
              </a:defRPr>
            </a:pPr>
            <a:r>
              <a:t>大部分点显著落在省电区间</a:t>
            </a:r>
          </a:p>
        </p:txBody>
      </p:sp>
      <p:sp>
        <p:nvSpPr>
          <p:cNvPr id="12" name="Rounded Rectangle 11"/>
          <p:cNvSpPr/>
          <p:nvPr/>
        </p:nvSpPr>
        <p:spPr>
          <a:xfrm>
            <a:off x="7223760" y="1554480"/>
            <a:ext cx="2926080" cy="17373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0" y="1810512"/>
            <a:ext cx="2926080" cy="502920"/>
          </a:xfrm>
          <a:prstGeom prst="rect">
            <a:avLst/>
          </a:prstGeom>
          <a:noFill/>
        </p:spPr>
        <p:txBody>
          <a:bodyPr wrap="square" anchor="t">
            <a:spAutoFit/>
          </a:bodyPr>
          <a:lstStyle/>
          <a:p>
            <a:pPr algn="ctr">
              <a:defRPr sz="2600" b="1">
                <a:solidFill>
                  <a:srgbClr val="24795D"/>
                </a:solidFill>
              </a:defRPr>
            </a:pPr>
            <a:r>
              <a:t>-25.8% ~ -34.9%</a:t>
            </a:r>
          </a:p>
        </p:txBody>
      </p:sp>
      <p:sp>
        <p:nvSpPr>
          <p:cNvPr id="14" name="TextBox 13"/>
          <p:cNvSpPr txBox="1"/>
          <p:nvPr/>
        </p:nvSpPr>
        <p:spPr>
          <a:xfrm>
            <a:off x="7223760" y="2395728"/>
            <a:ext cx="2926080" cy="274320"/>
          </a:xfrm>
          <a:prstGeom prst="rect">
            <a:avLst/>
          </a:prstGeom>
          <a:noFill/>
        </p:spPr>
        <p:txBody>
          <a:bodyPr wrap="square" anchor="t">
            <a:spAutoFit/>
          </a:bodyPr>
          <a:lstStyle/>
          <a:p>
            <a:pPr algn="ctr">
              <a:defRPr sz="1300" b="1">
                <a:solidFill>
                  <a:srgbClr val="19263B"/>
                </a:solidFill>
              </a:defRPr>
            </a:pPr>
            <a:r>
              <a:t>energy 相对 baseline</a:t>
            </a:r>
          </a:p>
        </p:txBody>
      </p:sp>
      <p:sp>
        <p:nvSpPr>
          <p:cNvPr id="15" name="TextBox 14"/>
          <p:cNvSpPr txBox="1"/>
          <p:nvPr/>
        </p:nvSpPr>
        <p:spPr>
          <a:xfrm>
            <a:off x="7360920" y="2670048"/>
            <a:ext cx="2651760" cy="384048"/>
          </a:xfrm>
          <a:prstGeom prst="rect">
            <a:avLst/>
          </a:prstGeom>
          <a:noFill/>
        </p:spPr>
        <p:txBody>
          <a:bodyPr wrap="square" anchor="t">
            <a:spAutoFit/>
          </a:bodyPr>
          <a:lstStyle/>
          <a:p>
            <a:pPr algn="ctr">
              <a:defRPr sz="1000" b="0">
                <a:solidFill>
                  <a:srgbClr val="6C757D"/>
                </a:solidFill>
              </a:defRPr>
            </a:pPr>
            <a:r>
              <a:t>总能耗与功率结论方向一致</a:t>
            </a:r>
          </a:p>
        </p:txBody>
      </p:sp>
      <p:sp>
        <p:nvSpPr>
          <p:cNvPr id="16" name="Rounded Rectangle 15"/>
          <p:cNvSpPr/>
          <p:nvPr/>
        </p:nvSpPr>
        <p:spPr>
          <a:xfrm>
            <a:off x="10424160" y="1554480"/>
            <a:ext cx="2926080" cy="17373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0" y="1810512"/>
            <a:ext cx="2926080" cy="502920"/>
          </a:xfrm>
          <a:prstGeom prst="rect">
            <a:avLst/>
          </a:prstGeom>
          <a:noFill/>
        </p:spPr>
        <p:txBody>
          <a:bodyPr wrap="square" anchor="t">
            <a:spAutoFit/>
          </a:bodyPr>
          <a:lstStyle/>
          <a:p>
            <a:pPr algn="ctr">
              <a:defRPr sz="2600" b="1">
                <a:solidFill>
                  <a:srgbClr val="34568B"/>
                </a:solidFill>
              </a:defRPr>
            </a:pPr>
            <a:r>
              <a:t>7 points</a:t>
            </a:r>
          </a:p>
        </p:txBody>
      </p:sp>
      <p:sp>
        <p:nvSpPr>
          <p:cNvPr id="18" name="TextBox 17"/>
          <p:cNvSpPr txBox="1"/>
          <p:nvPr/>
        </p:nvSpPr>
        <p:spPr>
          <a:xfrm>
            <a:off x="10424160" y="2395728"/>
            <a:ext cx="2926080" cy="274320"/>
          </a:xfrm>
          <a:prstGeom prst="rect">
            <a:avLst/>
          </a:prstGeom>
          <a:noFill/>
        </p:spPr>
        <p:txBody>
          <a:bodyPr wrap="square" anchor="t">
            <a:spAutoFit/>
          </a:bodyPr>
          <a:lstStyle/>
          <a:p>
            <a:pPr algn="ctr">
              <a:defRPr sz="1300" b="1">
                <a:solidFill>
                  <a:srgbClr val="19263B"/>
                </a:solidFill>
              </a:defRPr>
            </a:pPr>
            <a:r>
              <a:t>当前主要支撑样例</a:t>
            </a:r>
          </a:p>
        </p:txBody>
      </p:sp>
      <p:sp>
        <p:nvSpPr>
          <p:cNvPr id="19" name="TextBox 18"/>
          <p:cNvSpPr txBox="1"/>
          <p:nvPr/>
        </p:nvSpPr>
        <p:spPr>
          <a:xfrm>
            <a:off x="10561320" y="2670048"/>
            <a:ext cx="2651760" cy="384048"/>
          </a:xfrm>
          <a:prstGeom prst="rect">
            <a:avLst/>
          </a:prstGeom>
          <a:noFill/>
        </p:spPr>
        <p:txBody>
          <a:bodyPr wrap="square" anchor="t">
            <a:spAutoFit/>
          </a:bodyPr>
          <a:lstStyle/>
          <a:p>
            <a:pPr algn="ctr">
              <a:defRPr sz="1000" b="0">
                <a:solidFill>
                  <a:srgbClr val="6C757D"/>
                </a:solidFill>
              </a:defRPr>
            </a:pPr>
            <a:r>
              <a:t>均为受控 baseline/static 对照</a:t>
            </a:r>
          </a:p>
        </p:txBody>
      </p:sp>
      <p:sp>
        <p:nvSpPr>
          <p:cNvPr id="20" name="Rounded Rectangle 19"/>
          <p:cNvSpPr/>
          <p:nvPr/>
        </p:nvSpPr>
        <p:spPr>
          <a:xfrm>
            <a:off x="731520" y="3495675"/>
            <a:ext cx="8641080" cy="3728085"/>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3721608"/>
            <a:ext cx="8311896" cy="256032"/>
          </a:xfrm>
          <a:prstGeom prst="rect">
            <a:avLst/>
          </a:prstGeom>
          <a:noFill/>
        </p:spPr>
        <p:txBody>
          <a:bodyPr wrap="square" anchor="t">
            <a:spAutoFit/>
          </a:bodyPr>
          <a:lstStyle/>
          <a:p>
            <a:pPr algn="l">
              <a:defRPr sz="1300" b="1">
                <a:solidFill>
                  <a:srgbClr val="19263B"/>
                </a:solidFill>
              </a:defRPr>
            </a:pPr>
            <a:r>
              <a:t>时间-功率 trade-off：所有 static 点相对 baseline 的位置</a:t>
            </a:r>
          </a:p>
        </p:txBody>
      </p:sp>
      <p:sp>
        <p:nvSpPr>
          <p:cNvPr id="22" name="TextBox 21"/>
          <p:cNvSpPr txBox="1"/>
          <p:nvPr/>
        </p:nvSpPr>
        <p:spPr>
          <a:xfrm>
            <a:off x="896112" y="3959352"/>
            <a:ext cx="8311896" cy="201168"/>
          </a:xfrm>
          <a:prstGeom prst="rect">
            <a:avLst/>
          </a:prstGeom>
          <a:noFill/>
        </p:spPr>
        <p:txBody>
          <a:bodyPr wrap="square" anchor="t">
            <a:spAutoFit/>
          </a:bodyPr>
          <a:lstStyle/>
          <a:p>
            <a:pPr algn="l">
              <a:defRPr sz="900" b="0">
                <a:solidFill>
                  <a:srgbClr val="6C757D"/>
                </a:solidFill>
              </a:defRPr>
            </a:pPr>
            <a:r>
              <a:t>横轴为 runtime 相对 baseline 变化，纵轴为 avg power 相对 baseline 变化</a:t>
            </a:r>
          </a:p>
        </p:txBody>
      </p:sp>
      <p:sp>
        <p:nvSpPr>
          <p:cNvPr id="23" name="Rectangle 22"/>
          <p:cNvSpPr/>
          <p:nvPr/>
        </p:nvSpPr>
        <p:spPr>
          <a:xfrm>
            <a:off x="1481328" y="4398264"/>
            <a:ext cx="7461504" cy="2240279"/>
          </a:xfrm>
          <a:prstGeom prst="rect">
            <a:avLst/>
          </a:prstGeom>
          <a:solidFill>
            <a:srgbClr val="FAFBFD"/>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81328" y="4398264"/>
            <a:ext cx="9144" cy="2240279"/>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16736" y="6684264"/>
            <a:ext cx="329184" cy="164592"/>
          </a:xfrm>
          <a:prstGeom prst="rect">
            <a:avLst/>
          </a:prstGeom>
          <a:noFill/>
        </p:spPr>
        <p:txBody>
          <a:bodyPr wrap="square" anchor="t">
            <a:spAutoFit/>
          </a:bodyPr>
          <a:lstStyle/>
          <a:p>
            <a:pPr algn="ctr">
              <a:defRPr sz="800" b="0">
                <a:solidFill>
                  <a:srgbClr val="6C757D"/>
                </a:solidFill>
              </a:defRPr>
            </a:pPr>
            <a:r>
              <a:t>-3</a:t>
            </a:r>
          </a:p>
        </p:txBody>
      </p:sp>
      <p:sp>
        <p:nvSpPr>
          <p:cNvPr id="26" name="Rectangle 25"/>
          <p:cNvSpPr/>
          <p:nvPr/>
        </p:nvSpPr>
        <p:spPr>
          <a:xfrm>
            <a:off x="3346704" y="4398264"/>
            <a:ext cx="9144" cy="2240279"/>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82112" y="6684264"/>
            <a:ext cx="329184" cy="164592"/>
          </a:xfrm>
          <a:prstGeom prst="rect">
            <a:avLst/>
          </a:prstGeom>
          <a:noFill/>
        </p:spPr>
        <p:txBody>
          <a:bodyPr wrap="square" anchor="t">
            <a:spAutoFit/>
          </a:bodyPr>
          <a:lstStyle/>
          <a:p>
            <a:pPr algn="ctr">
              <a:defRPr sz="800" b="0">
                <a:solidFill>
                  <a:srgbClr val="6C757D"/>
                </a:solidFill>
              </a:defRPr>
            </a:pPr>
            <a:r>
              <a:t>-1.5</a:t>
            </a:r>
          </a:p>
        </p:txBody>
      </p:sp>
      <p:sp>
        <p:nvSpPr>
          <p:cNvPr id="28" name="Rectangle 27"/>
          <p:cNvSpPr/>
          <p:nvPr/>
        </p:nvSpPr>
        <p:spPr>
          <a:xfrm>
            <a:off x="5212080" y="4398264"/>
            <a:ext cx="9144" cy="2240279"/>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47488" y="6684264"/>
            <a:ext cx="329184" cy="164592"/>
          </a:xfrm>
          <a:prstGeom prst="rect">
            <a:avLst/>
          </a:prstGeom>
          <a:noFill/>
        </p:spPr>
        <p:txBody>
          <a:bodyPr wrap="square" anchor="t">
            <a:spAutoFit/>
          </a:bodyPr>
          <a:lstStyle/>
          <a:p>
            <a:pPr algn="ctr">
              <a:defRPr sz="800" b="0">
                <a:solidFill>
                  <a:srgbClr val="6C757D"/>
                </a:solidFill>
              </a:defRPr>
            </a:pPr>
            <a:r>
              <a:t>0</a:t>
            </a:r>
          </a:p>
        </p:txBody>
      </p:sp>
      <p:sp>
        <p:nvSpPr>
          <p:cNvPr id="30" name="Rectangle 29"/>
          <p:cNvSpPr/>
          <p:nvPr/>
        </p:nvSpPr>
        <p:spPr>
          <a:xfrm>
            <a:off x="7077456" y="4398264"/>
            <a:ext cx="9144" cy="2240279"/>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12864" y="6684264"/>
            <a:ext cx="329184" cy="164592"/>
          </a:xfrm>
          <a:prstGeom prst="rect">
            <a:avLst/>
          </a:prstGeom>
          <a:noFill/>
        </p:spPr>
        <p:txBody>
          <a:bodyPr wrap="square" anchor="t">
            <a:spAutoFit/>
          </a:bodyPr>
          <a:lstStyle/>
          <a:p>
            <a:pPr algn="ctr">
              <a:defRPr sz="800" b="0">
                <a:solidFill>
                  <a:srgbClr val="6C757D"/>
                </a:solidFill>
              </a:defRPr>
            </a:pPr>
            <a:r>
              <a:t>1.5</a:t>
            </a:r>
          </a:p>
        </p:txBody>
      </p:sp>
      <p:sp>
        <p:nvSpPr>
          <p:cNvPr id="32" name="Rectangle 31"/>
          <p:cNvSpPr/>
          <p:nvPr/>
        </p:nvSpPr>
        <p:spPr>
          <a:xfrm>
            <a:off x="8942832" y="4398264"/>
            <a:ext cx="9144" cy="2240279"/>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78240" y="6684264"/>
            <a:ext cx="329184" cy="164592"/>
          </a:xfrm>
          <a:prstGeom prst="rect">
            <a:avLst/>
          </a:prstGeom>
          <a:noFill/>
        </p:spPr>
        <p:txBody>
          <a:bodyPr wrap="square" anchor="t">
            <a:spAutoFit/>
          </a:bodyPr>
          <a:lstStyle/>
          <a:p>
            <a:pPr algn="ctr">
              <a:defRPr sz="800" b="0">
                <a:solidFill>
                  <a:srgbClr val="6C757D"/>
                </a:solidFill>
              </a:defRPr>
            </a:pPr>
            <a:r>
              <a:t>3</a:t>
            </a:r>
          </a:p>
        </p:txBody>
      </p:sp>
      <p:sp>
        <p:nvSpPr>
          <p:cNvPr id="34" name="Rectangle 33"/>
          <p:cNvSpPr/>
          <p:nvPr/>
        </p:nvSpPr>
        <p:spPr>
          <a:xfrm>
            <a:off x="1481328" y="6638544"/>
            <a:ext cx="7461504" cy="9144"/>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6556248"/>
            <a:ext cx="384048" cy="164592"/>
          </a:xfrm>
          <a:prstGeom prst="rect">
            <a:avLst/>
          </a:prstGeom>
          <a:noFill/>
        </p:spPr>
        <p:txBody>
          <a:bodyPr wrap="square" anchor="t">
            <a:spAutoFit/>
          </a:bodyPr>
          <a:lstStyle/>
          <a:p>
            <a:pPr algn="r">
              <a:defRPr sz="800" b="0">
                <a:solidFill>
                  <a:srgbClr val="6C757D"/>
                </a:solidFill>
              </a:defRPr>
            </a:pPr>
            <a:r>
              <a:t>-40</a:t>
            </a:r>
          </a:p>
        </p:txBody>
      </p:sp>
      <p:sp>
        <p:nvSpPr>
          <p:cNvPr id="36" name="Rectangle 35"/>
          <p:cNvSpPr/>
          <p:nvPr/>
        </p:nvSpPr>
        <p:spPr>
          <a:xfrm>
            <a:off x="1481328" y="6078474"/>
            <a:ext cx="7461504" cy="9144"/>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05840" y="5996178"/>
            <a:ext cx="384048" cy="164592"/>
          </a:xfrm>
          <a:prstGeom prst="rect">
            <a:avLst/>
          </a:prstGeom>
          <a:noFill/>
        </p:spPr>
        <p:txBody>
          <a:bodyPr wrap="square" anchor="t">
            <a:spAutoFit/>
          </a:bodyPr>
          <a:lstStyle/>
          <a:p>
            <a:pPr algn="r">
              <a:defRPr sz="800" b="0">
                <a:solidFill>
                  <a:srgbClr val="6C757D"/>
                </a:solidFill>
              </a:defRPr>
            </a:pPr>
            <a:r>
              <a:t>-30</a:t>
            </a:r>
          </a:p>
        </p:txBody>
      </p:sp>
      <p:sp>
        <p:nvSpPr>
          <p:cNvPr id="38" name="Rectangle 37"/>
          <p:cNvSpPr/>
          <p:nvPr/>
        </p:nvSpPr>
        <p:spPr>
          <a:xfrm>
            <a:off x="1481328" y="5518404"/>
            <a:ext cx="7461504" cy="9144"/>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436108"/>
            <a:ext cx="384048" cy="164592"/>
          </a:xfrm>
          <a:prstGeom prst="rect">
            <a:avLst/>
          </a:prstGeom>
          <a:noFill/>
        </p:spPr>
        <p:txBody>
          <a:bodyPr wrap="square" anchor="t">
            <a:spAutoFit/>
          </a:bodyPr>
          <a:lstStyle/>
          <a:p>
            <a:pPr algn="r">
              <a:defRPr sz="800" b="0">
                <a:solidFill>
                  <a:srgbClr val="6C757D"/>
                </a:solidFill>
              </a:defRPr>
            </a:pPr>
            <a:r>
              <a:t>-20</a:t>
            </a:r>
          </a:p>
        </p:txBody>
      </p:sp>
      <p:sp>
        <p:nvSpPr>
          <p:cNvPr id="40" name="Rectangle 39"/>
          <p:cNvSpPr/>
          <p:nvPr/>
        </p:nvSpPr>
        <p:spPr>
          <a:xfrm>
            <a:off x="1481328" y="4958333"/>
            <a:ext cx="7461504" cy="9144"/>
          </a:xfrm>
          <a:prstGeom prst="rect">
            <a:avLst/>
          </a:prstGeom>
          <a:solidFill>
            <a:srgbClr val="D5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 y="4876038"/>
            <a:ext cx="384048" cy="164592"/>
          </a:xfrm>
          <a:prstGeom prst="rect">
            <a:avLst/>
          </a:prstGeom>
          <a:noFill/>
        </p:spPr>
        <p:txBody>
          <a:bodyPr wrap="square" anchor="t">
            <a:spAutoFit/>
          </a:bodyPr>
          <a:lstStyle/>
          <a:p>
            <a:pPr algn="r">
              <a:defRPr sz="800" b="0">
                <a:solidFill>
                  <a:srgbClr val="6C757D"/>
                </a:solidFill>
              </a:defRPr>
            </a:pPr>
            <a:r>
              <a:t>-10</a:t>
            </a:r>
          </a:p>
        </p:txBody>
      </p:sp>
      <p:sp>
        <p:nvSpPr>
          <p:cNvPr id="42" name="Rectangle 41"/>
          <p:cNvSpPr/>
          <p:nvPr/>
        </p:nvSpPr>
        <p:spPr>
          <a:xfrm>
            <a:off x="1481328" y="4398264"/>
            <a:ext cx="7461504" cy="9144"/>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5840" y="4315968"/>
            <a:ext cx="384048" cy="164592"/>
          </a:xfrm>
          <a:prstGeom prst="rect">
            <a:avLst/>
          </a:prstGeom>
          <a:noFill/>
        </p:spPr>
        <p:txBody>
          <a:bodyPr wrap="square" anchor="t">
            <a:spAutoFit/>
          </a:bodyPr>
          <a:lstStyle/>
          <a:p>
            <a:pPr algn="r">
              <a:defRPr sz="800" b="0">
                <a:solidFill>
                  <a:srgbClr val="6C757D"/>
                </a:solidFill>
              </a:defRPr>
            </a:pPr>
            <a:r>
              <a:t>0</a:t>
            </a:r>
          </a:p>
        </p:txBody>
      </p:sp>
      <p:sp>
        <p:nvSpPr>
          <p:cNvPr id="44" name="TextBox 43"/>
          <p:cNvSpPr txBox="1"/>
          <p:nvPr/>
        </p:nvSpPr>
        <p:spPr>
          <a:xfrm>
            <a:off x="4023360" y="6894576"/>
            <a:ext cx="2377440" cy="164592"/>
          </a:xfrm>
          <a:prstGeom prst="rect">
            <a:avLst/>
          </a:prstGeom>
          <a:noFill/>
        </p:spPr>
        <p:txBody>
          <a:bodyPr wrap="square" anchor="t">
            <a:spAutoFit/>
          </a:bodyPr>
          <a:lstStyle/>
          <a:p>
            <a:pPr algn="ctr">
              <a:defRPr sz="900" b="0">
                <a:solidFill>
                  <a:srgbClr val="6C757D"/>
                </a:solidFill>
              </a:defRPr>
            </a:pPr>
            <a:r>
              <a:t>ΔRuntime vs Baseline (%)</a:t>
            </a:r>
          </a:p>
        </p:txBody>
      </p:sp>
      <p:sp>
        <p:nvSpPr>
          <p:cNvPr id="45" name="TextBox 44"/>
          <p:cNvSpPr txBox="1"/>
          <p:nvPr/>
        </p:nvSpPr>
        <p:spPr>
          <a:xfrm>
            <a:off x="841248" y="4379976"/>
            <a:ext cx="457200" cy="502920"/>
          </a:xfrm>
          <a:prstGeom prst="rect">
            <a:avLst/>
          </a:prstGeom>
          <a:noFill/>
        </p:spPr>
        <p:txBody>
          <a:bodyPr wrap="square" anchor="t">
            <a:spAutoFit/>
          </a:bodyPr>
          <a:lstStyle/>
          <a:p>
            <a:pPr algn="ctr">
              <a:defRPr sz="900" b="0">
                <a:solidFill>
                  <a:srgbClr val="6C757D"/>
                </a:solidFill>
              </a:defRPr>
            </a:pPr>
            <a:r>
              <a:t>ΔPower</a:t>
            </a:r>
            <a:br/>
            <a:r>
              <a:t>(%)</a:t>
            </a:r>
          </a:p>
        </p:txBody>
      </p:sp>
      <p:sp>
        <p:nvSpPr>
          <p:cNvPr id="46" name="Rounded Rectangle 45"/>
          <p:cNvSpPr/>
          <p:nvPr/>
        </p:nvSpPr>
        <p:spPr>
          <a:xfrm>
            <a:off x="7613650" y="3749040"/>
            <a:ext cx="1484630" cy="567055"/>
          </a:xfrm>
          <a:prstGeom prst="roundRect">
            <a:avLst/>
          </a:prstGeom>
          <a:solidFill>
            <a:srgbClr val="EBF5F0"/>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699248" y="3822192"/>
            <a:ext cx="1280160" cy="128016"/>
          </a:xfrm>
          <a:prstGeom prst="rect">
            <a:avLst/>
          </a:prstGeom>
          <a:noFill/>
        </p:spPr>
        <p:txBody>
          <a:bodyPr wrap="square" anchor="t">
            <a:spAutoFit/>
          </a:bodyPr>
          <a:lstStyle/>
          <a:p>
            <a:pPr algn="l">
              <a:defRPr sz="900" b="1">
                <a:solidFill>
                  <a:srgbClr val="24795D"/>
                </a:solidFill>
              </a:defRPr>
            </a:pPr>
            <a:r>
              <a:t>左下区域</a:t>
            </a:r>
          </a:p>
        </p:txBody>
      </p:sp>
      <p:sp>
        <p:nvSpPr>
          <p:cNvPr id="48" name="TextBox 47"/>
          <p:cNvSpPr txBox="1"/>
          <p:nvPr/>
        </p:nvSpPr>
        <p:spPr>
          <a:xfrm>
            <a:off x="7699248" y="3995928"/>
            <a:ext cx="1280160" cy="164592"/>
          </a:xfrm>
          <a:prstGeom prst="rect">
            <a:avLst/>
          </a:prstGeom>
          <a:noFill/>
        </p:spPr>
        <p:txBody>
          <a:bodyPr wrap="square" anchor="t">
            <a:spAutoFit/>
          </a:bodyPr>
          <a:lstStyle/>
          <a:p>
            <a:pPr algn="l">
              <a:defRPr sz="800" b="0">
                <a:solidFill>
                  <a:srgbClr val="6C757D"/>
                </a:solidFill>
              </a:defRPr>
            </a:pPr>
            <a:r>
              <a:t>更快且更省电</a:t>
            </a:r>
          </a:p>
        </p:txBody>
      </p:sp>
      <p:sp>
        <p:nvSpPr>
          <p:cNvPr id="49" name="Oval 48"/>
          <p:cNvSpPr/>
          <p:nvPr/>
        </p:nvSpPr>
        <p:spPr>
          <a:xfrm>
            <a:off x="1150620" y="3611880"/>
            <a:ext cx="128016" cy="128016"/>
          </a:xfrm>
          <a:prstGeom prst="ellipse">
            <a:avLst/>
          </a:prstGeom>
          <a:solidFill>
            <a:srgbClr val="34568B"/>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315212" y="3584448"/>
            <a:ext cx="822960" cy="164592"/>
          </a:xfrm>
          <a:prstGeom prst="rect">
            <a:avLst/>
          </a:prstGeom>
          <a:noFill/>
        </p:spPr>
        <p:txBody>
          <a:bodyPr wrap="square" anchor="t">
            <a:spAutoFit/>
          </a:bodyPr>
          <a:lstStyle/>
          <a:p>
            <a:pPr algn="l">
              <a:defRPr sz="800" b="0">
                <a:solidFill>
                  <a:srgbClr val="6C757D"/>
                </a:solidFill>
              </a:defRPr>
            </a:pPr>
            <a:r>
              <a:t>案例 A</a:t>
            </a:r>
          </a:p>
        </p:txBody>
      </p:sp>
      <p:sp>
        <p:nvSpPr>
          <p:cNvPr id="51" name="Oval 50"/>
          <p:cNvSpPr/>
          <p:nvPr/>
        </p:nvSpPr>
        <p:spPr>
          <a:xfrm>
            <a:off x="2385060" y="3611880"/>
            <a:ext cx="128016" cy="128016"/>
          </a:xfrm>
          <a:prstGeom prst="ellipse">
            <a:avLst/>
          </a:prstGeom>
          <a:solidFill>
            <a:srgbClr val="A85C2C"/>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49652" y="3584448"/>
            <a:ext cx="822960" cy="164592"/>
          </a:xfrm>
          <a:prstGeom prst="rect">
            <a:avLst/>
          </a:prstGeom>
          <a:noFill/>
        </p:spPr>
        <p:txBody>
          <a:bodyPr wrap="square" anchor="t">
            <a:spAutoFit/>
          </a:bodyPr>
          <a:lstStyle/>
          <a:p>
            <a:pPr algn="l">
              <a:defRPr sz="800" b="0">
                <a:solidFill>
                  <a:srgbClr val="6C757D"/>
                </a:solidFill>
              </a:defRPr>
            </a:pPr>
            <a:r>
              <a:t>案例 B</a:t>
            </a:r>
          </a:p>
        </p:txBody>
      </p:sp>
      <p:sp>
        <p:nvSpPr>
          <p:cNvPr id="53" name="Oval 52"/>
          <p:cNvSpPr/>
          <p:nvPr/>
        </p:nvSpPr>
        <p:spPr>
          <a:xfrm>
            <a:off x="3531412" y="5751233"/>
            <a:ext cx="128016" cy="128016"/>
          </a:xfrm>
          <a:prstGeom prst="ellipse">
            <a:avLst/>
          </a:prstGeom>
          <a:solidFill>
            <a:srgbClr val="34568B"/>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86860" y="5650649"/>
            <a:ext cx="868680" cy="164592"/>
          </a:xfrm>
          <a:prstGeom prst="rect">
            <a:avLst/>
          </a:prstGeom>
          <a:noFill/>
        </p:spPr>
        <p:txBody>
          <a:bodyPr wrap="square" anchor="t">
            <a:spAutoFit/>
          </a:bodyPr>
          <a:lstStyle/>
          <a:p>
            <a:pPr algn="l">
              <a:defRPr sz="800" b="0">
                <a:solidFill>
                  <a:srgbClr val="2E3A4A"/>
                </a:solidFill>
              </a:defRPr>
            </a:pPr>
            <a:r>
              <a:t>A-1252</a:t>
            </a:r>
          </a:p>
        </p:txBody>
      </p:sp>
      <p:sp>
        <p:nvSpPr>
          <p:cNvPr id="55" name="Oval 54"/>
          <p:cNvSpPr/>
          <p:nvPr/>
        </p:nvSpPr>
        <p:spPr>
          <a:xfrm>
            <a:off x="2412187" y="5728830"/>
            <a:ext cx="128016" cy="128016"/>
          </a:xfrm>
          <a:prstGeom prst="ellipse">
            <a:avLst/>
          </a:prstGeom>
          <a:solidFill>
            <a:srgbClr val="34568B"/>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49347" y="5811126"/>
            <a:ext cx="868680" cy="164592"/>
          </a:xfrm>
          <a:prstGeom prst="rect">
            <a:avLst/>
          </a:prstGeom>
          <a:noFill/>
        </p:spPr>
        <p:txBody>
          <a:bodyPr wrap="square" anchor="t">
            <a:spAutoFit/>
          </a:bodyPr>
          <a:lstStyle/>
          <a:p>
            <a:pPr algn="l">
              <a:defRPr sz="800" b="0">
                <a:solidFill>
                  <a:srgbClr val="2E3A4A"/>
                </a:solidFill>
              </a:defRPr>
            </a:pPr>
            <a:r>
              <a:t>A-1260</a:t>
            </a:r>
          </a:p>
        </p:txBody>
      </p:sp>
      <p:sp>
        <p:nvSpPr>
          <p:cNvPr id="57" name="Oval 56"/>
          <p:cNvSpPr/>
          <p:nvPr/>
        </p:nvSpPr>
        <p:spPr>
          <a:xfrm>
            <a:off x="2287828" y="5684024"/>
            <a:ext cx="128016" cy="128016"/>
          </a:xfrm>
          <a:prstGeom prst="ellipse">
            <a:avLst/>
          </a:prstGeom>
          <a:solidFill>
            <a:srgbClr val="34568B"/>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424988" y="5492000"/>
            <a:ext cx="868680" cy="164592"/>
          </a:xfrm>
          <a:prstGeom prst="rect">
            <a:avLst/>
          </a:prstGeom>
          <a:noFill/>
        </p:spPr>
        <p:txBody>
          <a:bodyPr wrap="square" anchor="t">
            <a:spAutoFit/>
          </a:bodyPr>
          <a:lstStyle/>
          <a:p>
            <a:pPr algn="l">
              <a:defRPr sz="800" b="0">
                <a:solidFill>
                  <a:srgbClr val="2E3A4A"/>
                </a:solidFill>
              </a:defRPr>
            </a:pPr>
            <a:r>
              <a:t>A-1267</a:t>
            </a:r>
          </a:p>
        </p:txBody>
      </p:sp>
      <p:sp>
        <p:nvSpPr>
          <p:cNvPr id="59" name="Oval 58"/>
          <p:cNvSpPr/>
          <p:nvPr/>
        </p:nvSpPr>
        <p:spPr>
          <a:xfrm>
            <a:off x="7883956" y="6367310"/>
            <a:ext cx="128016" cy="128016"/>
          </a:xfrm>
          <a:prstGeom prst="ellipse">
            <a:avLst/>
          </a:prstGeom>
          <a:solidFill>
            <a:srgbClr val="A85C2C"/>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21116" y="6266726"/>
            <a:ext cx="868680" cy="164592"/>
          </a:xfrm>
          <a:prstGeom prst="rect">
            <a:avLst/>
          </a:prstGeom>
          <a:noFill/>
        </p:spPr>
        <p:txBody>
          <a:bodyPr wrap="square" anchor="t">
            <a:spAutoFit/>
          </a:bodyPr>
          <a:lstStyle/>
          <a:p>
            <a:pPr algn="l">
              <a:defRPr sz="800" b="0">
                <a:solidFill>
                  <a:srgbClr val="2E3A4A"/>
                </a:solidFill>
              </a:defRPr>
            </a:pPr>
            <a:r>
              <a:t>B-1072</a:t>
            </a:r>
          </a:p>
        </p:txBody>
      </p:sp>
      <p:sp>
        <p:nvSpPr>
          <p:cNvPr id="61" name="Oval 60"/>
          <p:cNvSpPr/>
          <p:nvPr/>
        </p:nvSpPr>
        <p:spPr>
          <a:xfrm>
            <a:off x="7013448" y="6344907"/>
            <a:ext cx="128016" cy="128016"/>
          </a:xfrm>
          <a:prstGeom prst="ellipse">
            <a:avLst/>
          </a:prstGeom>
          <a:solidFill>
            <a:srgbClr val="A85C2C"/>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150608" y="6408915"/>
            <a:ext cx="868680" cy="164592"/>
          </a:xfrm>
          <a:prstGeom prst="rect">
            <a:avLst/>
          </a:prstGeom>
          <a:noFill/>
        </p:spPr>
        <p:txBody>
          <a:bodyPr wrap="square" anchor="t">
            <a:spAutoFit/>
          </a:bodyPr>
          <a:lstStyle/>
          <a:p>
            <a:pPr algn="l">
              <a:defRPr sz="800" b="0">
                <a:solidFill>
                  <a:srgbClr val="2E3A4A"/>
                </a:solidFill>
              </a:defRPr>
            </a:pPr>
            <a:r>
              <a:t>B-1080</a:t>
            </a:r>
          </a:p>
        </p:txBody>
      </p:sp>
      <p:sp>
        <p:nvSpPr>
          <p:cNvPr id="63" name="Oval 62"/>
          <p:cNvSpPr/>
          <p:nvPr/>
        </p:nvSpPr>
        <p:spPr>
          <a:xfrm>
            <a:off x="6267297" y="6311303"/>
            <a:ext cx="128016" cy="128016"/>
          </a:xfrm>
          <a:prstGeom prst="ellipse">
            <a:avLst/>
          </a:prstGeom>
          <a:solidFill>
            <a:srgbClr val="A85C2C"/>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4457" y="6174143"/>
            <a:ext cx="868680" cy="164592"/>
          </a:xfrm>
          <a:prstGeom prst="rect">
            <a:avLst/>
          </a:prstGeom>
          <a:noFill/>
        </p:spPr>
        <p:txBody>
          <a:bodyPr wrap="square" anchor="t">
            <a:spAutoFit/>
          </a:bodyPr>
          <a:lstStyle/>
          <a:p>
            <a:pPr algn="l">
              <a:defRPr sz="800" b="0">
                <a:solidFill>
                  <a:srgbClr val="2E3A4A"/>
                </a:solidFill>
              </a:defRPr>
            </a:pPr>
            <a:r>
              <a:t>B-1087</a:t>
            </a:r>
          </a:p>
        </p:txBody>
      </p:sp>
      <p:sp>
        <p:nvSpPr>
          <p:cNvPr id="65" name="Oval 64"/>
          <p:cNvSpPr/>
          <p:nvPr/>
        </p:nvSpPr>
        <p:spPr>
          <a:xfrm>
            <a:off x="2163470" y="6171285"/>
            <a:ext cx="128016" cy="128016"/>
          </a:xfrm>
          <a:prstGeom prst="ellipse">
            <a:avLst/>
          </a:prstGeom>
          <a:solidFill>
            <a:srgbClr val="A85C2C"/>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300630" y="6271869"/>
            <a:ext cx="868680" cy="164592"/>
          </a:xfrm>
          <a:prstGeom prst="rect">
            <a:avLst/>
          </a:prstGeom>
          <a:noFill/>
        </p:spPr>
        <p:txBody>
          <a:bodyPr wrap="square" anchor="t">
            <a:spAutoFit/>
          </a:bodyPr>
          <a:lstStyle/>
          <a:p>
            <a:pPr algn="l">
              <a:defRPr sz="800" b="0">
                <a:solidFill>
                  <a:srgbClr val="2E3A4A"/>
                </a:solidFill>
              </a:defRPr>
            </a:pPr>
            <a:r>
              <a:t>B-1125</a:t>
            </a:r>
          </a:p>
        </p:txBody>
      </p:sp>
      <p:sp>
        <p:nvSpPr>
          <p:cNvPr id="67" name="Rounded Rectangle 66"/>
          <p:cNvSpPr/>
          <p:nvPr/>
        </p:nvSpPr>
        <p:spPr>
          <a:xfrm>
            <a:off x="9646920" y="3703320"/>
            <a:ext cx="4069080" cy="1508760"/>
          </a:xfrm>
          <a:prstGeom prst="roundRect">
            <a:avLst/>
          </a:prstGeom>
          <a:solidFill>
            <a:srgbClr val="EBF5F0"/>
          </a:solidFill>
          <a:ln>
            <a:solidFill>
              <a:srgbClr val="247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29800" y="3840480"/>
            <a:ext cx="3703320" cy="320040"/>
          </a:xfrm>
          <a:prstGeom prst="rect">
            <a:avLst/>
          </a:prstGeom>
          <a:noFill/>
        </p:spPr>
        <p:txBody>
          <a:bodyPr wrap="square" anchor="t">
            <a:spAutoFit/>
          </a:bodyPr>
          <a:lstStyle/>
          <a:p>
            <a:pPr algn="l">
              <a:defRPr sz="1300" b="1">
                <a:solidFill>
                  <a:srgbClr val="19263B"/>
                </a:solidFill>
              </a:defRPr>
            </a:pPr>
            <a:r>
              <a:t>因此可以稳妥写出的 headline</a:t>
            </a:r>
          </a:p>
        </p:txBody>
      </p:sp>
      <p:sp>
        <p:nvSpPr>
          <p:cNvPr id="69" name="TextBox 68"/>
          <p:cNvSpPr txBox="1"/>
          <p:nvPr/>
        </p:nvSpPr>
        <p:spPr>
          <a:xfrm>
            <a:off x="9829800" y="4206240"/>
            <a:ext cx="3703320" cy="822959"/>
          </a:xfrm>
          <a:prstGeom prst="rect">
            <a:avLst/>
          </a:prstGeom>
          <a:noFill/>
        </p:spPr>
        <p:txBody>
          <a:bodyPr wrap="square">
            <a:spAutoFit/>
          </a:bodyPr>
          <a:lstStyle/>
          <a:p>
            <a:pPr>
              <a:spcAft>
                <a:spcPts val="800"/>
              </a:spcAft>
              <a:defRPr sz="1100">
                <a:solidFill>
                  <a:srgbClr val="2E3A4A"/>
                </a:solidFill>
              </a:defRPr>
            </a:pPr>
            <a:r>
              <a:t>• 在相同 workload 与拓扑下，合适固定频点可带来约 20% 量级的平均功率下降。</a:t>
            </a:r>
          </a:p>
          <a:p>
            <a:pPr>
              <a:spcAft>
                <a:spcPts val="800"/>
              </a:spcAft>
              <a:defRPr sz="1100">
                <a:solidFill>
                  <a:srgbClr val="2E3A4A"/>
                </a:solidFill>
              </a:defRPr>
            </a:pPr>
            <a:r>
              <a:t>• 在已完成的 V100 双机案例中，部分拓扑可达到 25% 到 35%+ 的平均功率下降，同时 runtime 基本不变。</a:t>
            </a:r>
          </a:p>
        </p:txBody>
      </p:sp>
      <p:sp>
        <p:nvSpPr>
          <p:cNvPr id="70" name="Rounded Rectangle 69"/>
          <p:cNvSpPr/>
          <p:nvPr/>
        </p:nvSpPr>
        <p:spPr>
          <a:xfrm>
            <a:off x="9646920" y="5486400"/>
            <a:ext cx="4069080" cy="1508760"/>
          </a:xfrm>
          <a:prstGeom prst="roundRect">
            <a:avLst/>
          </a:prstGeom>
          <a:solidFill>
            <a:srgbClr val="FCF3EB"/>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829800" y="5623560"/>
            <a:ext cx="3703320" cy="320040"/>
          </a:xfrm>
          <a:prstGeom prst="rect">
            <a:avLst/>
          </a:prstGeom>
          <a:noFill/>
        </p:spPr>
        <p:txBody>
          <a:bodyPr wrap="square" anchor="t">
            <a:spAutoFit/>
          </a:bodyPr>
          <a:lstStyle/>
          <a:p>
            <a:pPr algn="l">
              <a:defRPr sz="1300" b="1">
                <a:solidFill>
                  <a:srgbClr val="19263B"/>
                </a:solidFill>
              </a:defRPr>
            </a:pPr>
            <a:r>
              <a:t>当前不能直接说死的内容</a:t>
            </a:r>
          </a:p>
        </p:txBody>
      </p:sp>
      <p:sp>
        <p:nvSpPr>
          <p:cNvPr id="72" name="TextBox 71"/>
          <p:cNvSpPr txBox="1"/>
          <p:nvPr/>
        </p:nvSpPr>
        <p:spPr>
          <a:xfrm>
            <a:off x="9829800" y="5989320"/>
            <a:ext cx="3703320" cy="822959"/>
          </a:xfrm>
          <a:prstGeom prst="rect">
            <a:avLst/>
          </a:prstGeom>
          <a:noFill/>
        </p:spPr>
        <p:txBody>
          <a:bodyPr wrap="square">
            <a:spAutoFit/>
          </a:bodyPr>
          <a:lstStyle/>
          <a:p>
            <a:pPr>
              <a:spcAft>
                <a:spcPts val="800"/>
              </a:spcAft>
              <a:defRPr sz="1000">
                <a:solidFill>
                  <a:srgbClr val="2E3A4A"/>
                </a:solidFill>
              </a:defRPr>
            </a:pPr>
            <a:r>
              <a:t>• 不能说 predictor 本身直接带来了 20% 节能。</a:t>
            </a:r>
          </a:p>
          <a:p>
            <a:pPr>
              <a:spcAft>
                <a:spcPts val="800"/>
              </a:spcAft>
              <a:defRPr sz="1000">
                <a:solidFill>
                  <a:srgbClr val="2E3A4A"/>
                </a:solidFill>
              </a:defRPr>
            </a:pPr>
            <a:r>
              <a:t>• 不能说所有拓扑都会落在同一个最佳频点。</a:t>
            </a:r>
          </a:p>
          <a:p>
            <a:pPr>
              <a:spcAft>
                <a:spcPts val="800"/>
              </a:spcAft>
              <a:defRPr sz="1000">
                <a:solidFill>
                  <a:srgbClr val="2E3A4A"/>
                </a:solidFill>
              </a:defRPr>
            </a:pPr>
            <a:r>
              <a:t>• 不能把所有历史 baseline 工件都描述成已本地完整保留。</a:t>
            </a:r>
          </a:p>
        </p:txBody>
      </p:sp>
      <p:sp>
        <p:nvSpPr>
          <p:cNvPr id="73" name="TextBox 72"/>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Headline source: 汇报总结_20260415/01_实验口径与主线.md and 05_证据清单.md</a:t>
            </a:r>
          </a:p>
        </p:txBody>
      </p:sp>
      <p:sp>
        <p:nvSpPr>
          <p:cNvPr id="74" name="TextBox 73"/>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8. 为什么还需要 predictor：减少 sweep 成本，而不是替代实验</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554480"/>
            <a:ext cx="6126480" cy="2286000"/>
          </a:xfrm>
          <a:prstGeom prst="roundRect">
            <a:avLst/>
          </a:prstGeom>
          <a:solidFill>
            <a:srgbClr val="EBF1F9"/>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91639"/>
            <a:ext cx="5760720" cy="320040"/>
          </a:xfrm>
          <a:prstGeom prst="rect">
            <a:avLst/>
          </a:prstGeom>
          <a:noFill/>
        </p:spPr>
        <p:txBody>
          <a:bodyPr wrap="square" anchor="t">
            <a:spAutoFit/>
          </a:bodyPr>
          <a:lstStyle/>
          <a:p>
            <a:pPr algn="l">
              <a:defRPr sz="1500" b="1">
                <a:solidFill>
                  <a:srgbClr val="19263B"/>
                </a:solidFill>
              </a:defRPr>
            </a:pPr>
            <a:r>
              <a:t>问题</a:t>
            </a:r>
          </a:p>
        </p:txBody>
      </p:sp>
      <p:sp>
        <p:nvSpPr>
          <p:cNvPr id="6" name="TextBox 5"/>
          <p:cNvSpPr txBox="1"/>
          <p:nvPr/>
        </p:nvSpPr>
        <p:spPr>
          <a:xfrm>
            <a:off x="1005840" y="2057400"/>
            <a:ext cx="5760720" cy="1600200"/>
          </a:xfrm>
          <a:prstGeom prst="rect">
            <a:avLst/>
          </a:prstGeom>
          <a:noFill/>
        </p:spPr>
        <p:txBody>
          <a:bodyPr wrap="square">
            <a:spAutoFit/>
          </a:bodyPr>
          <a:lstStyle/>
          <a:p>
            <a:pPr>
              <a:spcAft>
                <a:spcPts val="800"/>
              </a:spcAft>
              <a:defRPr sz="1300">
                <a:solidFill>
                  <a:srgbClr val="2E3A4A"/>
                </a:solidFill>
              </a:defRPr>
            </a:pPr>
            <a:r>
              <a:t>• 真实 baseline/static 对照可以证明节能，但每到新拓扑、新网络都完整 sweep 成本很高。</a:t>
            </a:r>
          </a:p>
          <a:p>
            <a:pPr>
              <a:spcAft>
                <a:spcPts val="800"/>
              </a:spcAft>
              <a:defRPr sz="1300">
                <a:solidFill>
                  <a:srgbClr val="2E3A4A"/>
                </a:solidFill>
              </a:defRPr>
            </a:pPr>
            <a:r>
              <a:t>• 跨节点训练的主要困难在于通信罚时并不是固定常数，网络和拓扑变化都会影响它。</a:t>
            </a:r>
          </a:p>
        </p:txBody>
      </p:sp>
      <p:sp>
        <p:nvSpPr>
          <p:cNvPr id="7" name="Rounded Rectangle 6"/>
          <p:cNvSpPr/>
          <p:nvPr/>
        </p:nvSpPr>
        <p:spPr>
          <a:xfrm>
            <a:off x="7315200" y="1554480"/>
            <a:ext cx="6492240" cy="2286000"/>
          </a:xfrm>
          <a:prstGeom prst="roundRect">
            <a:avLst/>
          </a:prstGeom>
          <a:solidFill>
            <a:srgbClr val="EBF5F0"/>
          </a:solidFill>
          <a:ln>
            <a:solidFill>
              <a:srgbClr val="247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691639"/>
            <a:ext cx="6126479" cy="320040"/>
          </a:xfrm>
          <a:prstGeom prst="rect">
            <a:avLst/>
          </a:prstGeom>
          <a:noFill/>
        </p:spPr>
        <p:txBody>
          <a:bodyPr wrap="square" anchor="t">
            <a:spAutoFit/>
          </a:bodyPr>
          <a:lstStyle/>
          <a:p>
            <a:pPr algn="l">
              <a:defRPr sz="1500" b="1">
                <a:solidFill>
                  <a:srgbClr val="19263B"/>
                </a:solidFill>
              </a:defRPr>
            </a:pPr>
            <a:r>
              <a:t>当前 predictor 的核心改动</a:t>
            </a:r>
          </a:p>
        </p:txBody>
      </p:sp>
      <p:sp>
        <p:nvSpPr>
          <p:cNvPr id="9" name="TextBox 8"/>
          <p:cNvSpPr txBox="1"/>
          <p:nvPr/>
        </p:nvSpPr>
        <p:spPr>
          <a:xfrm>
            <a:off x="7498079" y="2057400"/>
            <a:ext cx="6126479" cy="1600200"/>
          </a:xfrm>
          <a:prstGeom prst="rect">
            <a:avLst/>
          </a:prstGeom>
          <a:noFill/>
        </p:spPr>
        <p:txBody>
          <a:bodyPr wrap="square">
            <a:spAutoFit/>
          </a:bodyPr>
          <a:lstStyle/>
          <a:p>
            <a:pPr>
              <a:spcAft>
                <a:spcPts val="800"/>
              </a:spcAft>
              <a:defRPr sz="1300">
                <a:solidFill>
                  <a:srgbClr val="2E3A4A"/>
                </a:solidFill>
              </a:defRPr>
            </a:pPr>
            <a:r>
              <a:t>• 用 all-reduce benchmark 估计当前拓扑的通信质量，并连续缩放 alpha/beta 参数。</a:t>
            </a:r>
          </a:p>
          <a:p>
            <a:pPr>
              <a:spcAft>
                <a:spcPts val="800"/>
              </a:spcAft>
              <a:defRPr sz="1300">
                <a:solidFill>
                  <a:srgbClr val="2E3A4A"/>
                </a:solidFill>
              </a:defRPr>
            </a:pPr>
            <a:r>
              <a:t>• 增加 cluster-capacity scaling 与 per-node GPU-count power scaling，避免直接把 source anchor 原样套到 target。</a:t>
            </a:r>
          </a:p>
        </p:txBody>
      </p:sp>
      <p:sp>
        <p:nvSpPr>
          <p:cNvPr id="10" name="Rounded Rectangle 9"/>
          <p:cNvSpPr/>
          <p:nvPr/>
        </p:nvSpPr>
        <p:spPr>
          <a:xfrm>
            <a:off x="914400" y="4297680"/>
            <a:ext cx="12893040" cy="12801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553712"/>
            <a:ext cx="12527280" cy="274320"/>
          </a:xfrm>
          <a:prstGeom prst="rect">
            <a:avLst/>
          </a:prstGeom>
          <a:noFill/>
        </p:spPr>
        <p:txBody>
          <a:bodyPr wrap="square" anchor="t">
            <a:spAutoFit/>
          </a:bodyPr>
          <a:lstStyle/>
          <a:p>
            <a:pPr algn="ctr">
              <a:defRPr sz="2000" b="1">
                <a:solidFill>
                  <a:srgbClr val="34568B"/>
                </a:solidFill>
              </a:defRPr>
            </a:pPr>
            <a:r>
              <a:t>predictor 的定位：frequency-selection assistant</a:t>
            </a:r>
          </a:p>
        </p:txBody>
      </p:sp>
      <p:sp>
        <p:nvSpPr>
          <p:cNvPr id="12" name="TextBox 11"/>
          <p:cNvSpPr txBox="1"/>
          <p:nvPr/>
        </p:nvSpPr>
        <p:spPr>
          <a:xfrm>
            <a:off x="1097280" y="4937760"/>
            <a:ext cx="12527280" cy="274320"/>
          </a:xfrm>
          <a:prstGeom prst="rect">
            <a:avLst/>
          </a:prstGeom>
          <a:noFill/>
        </p:spPr>
        <p:txBody>
          <a:bodyPr wrap="square" anchor="t">
            <a:spAutoFit/>
          </a:bodyPr>
          <a:lstStyle/>
          <a:p>
            <a:pPr algn="ctr">
              <a:defRPr sz="1200" b="0">
                <a:solidFill>
                  <a:srgbClr val="6C757D"/>
                </a:solidFill>
              </a:defRPr>
            </a:pPr>
            <a:r>
              <a:t>真实证据仍来自 baseline/static + Zeus；predictor 的价值是减少值得验证的频点数量，并提高跨拓扑迁移效率。</a:t>
            </a:r>
          </a:p>
        </p:txBody>
      </p:sp>
      <p:sp>
        <p:nvSpPr>
          <p:cNvPr id="13" name="TextBox 12"/>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Method scope: README.md, 汇报总结_20260415/01_实验口径与主线.md, analysis/freq_model/*</a:t>
            </a:r>
          </a:p>
        </p:txBody>
      </p:sp>
      <p:sp>
        <p:nvSpPr>
          <p:cNvPr id="14" name="TextBox 13"/>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9. IB formal replay：当前 predictor 的主要精度证据</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05840"/>
            <a:ext cx="13258800" cy="320040"/>
          </a:xfrm>
          <a:prstGeom prst="rect">
            <a:avLst/>
          </a:prstGeom>
          <a:noFill/>
        </p:spPr>
        <p:txBody>
          <a:bodyPr wrap="square" anchor="t">
            <a:spAutoFit/>
          </a:bodyPr>
          <a:lstStyle/>
          <a:p>
            <a:pPr algn="l">
              <a:defRPr sz="1200" b="0">
                <a:solidFill>
                  <a:srgbClr val="6C757D"/>
                </a:solidFill>
              </a:defRPr>
            </a:pPr>
            <a:r>
              <a:t>fresh formal replay: `2x4 -&gt; 2x8`, IB, transport-consistent</a:t>
            </a:r>
          </a:p>
        </p:txBody>
      </p:sp>
      <p:sp>
        <p:nvSpPr>
          <p:cNvPr id="5" name="Rounded Rectangle 4"/>
          <p:cNvSpPr/>
          <p:nvPr/>
        </p:nvSpPr>
        <p:spPr>
          <a:xfrm>
            <a:off x="822960" y="1463040"/>
            <a:ext cx="3291840" cy="155448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719072"/>
            <a:ext cx="3291840" cy="502920"/>
          </a:xfrm>
          <a:prstGeom prst="rect">
            <a:avLst/>
          </a:prstGeom>
          <a:noFill/>
        </p:spPr>
        <p:txBody>
          <a:bodyPr wrap="square" anchor="t">
            <a:spAutoFit/>
          </a:bodyPr>
          <a:lstStyle/>
          <a:p>
            <a:pPr algn="ctr">
              <a:defRPr sz="2600" b="1">
                <a:solidFill>
                  <a:srgbClr val="34568B"/>
                </a:solidFill>
              </a:defRPr>
            </a:pPr>
            <a:r>
              <a:t>11.48%</a:t>
            </a:r>
          </a:p>
        </p:txBody>
      </p:sp>
      <p:sp>
        <p:nvSpPr>
          <p:cNvPr id="7" name="TextBox 6"/>
          <p:cNvSpPr txBox="1"/>
          <p:nvPr/>
        </p:nvSpPr>
        <p:spPr>
          <a:xfrm>
            <a:off x="822960" y="2304288"/>
            <a:ext cx="3291840" cy="274320"/>
          </a:xfrm>
          <a:prstGeom prst="rect">
            <a:avLst/>
          </a:prstGeom>
          <a:noFill/>
        </p:spPr>
        <p:txBody>
          <a:bodyPr wrap="square" anchor="t">
            <a:spAutoFit/>
          </a:bodyPr>
          <a:lstStyle/>
          <a:p>
            <a:pPr algn="ctr">
              <a:defRPr sz="1300" b="1">
                <a:solidFill>
                  <a:srgbClr val="19263B"/>
                </a:solidFill>
              </a:defRPr>
            </a:pPr>
            <a:r>
              <a:t>Time MAPE</a:t>
            </a:r>
          </a:p>
        </p:txBody>
      </p:sp>
      <p:sp>
        <p:nvSpPr>
          <p:cNvPr id="8" name="TextBox 7"/>
          <p:cNvSpPr txBox="1"/>
          <p:nvPr/>
        </p:nvSpPr>
        <p:spPr>
          <a:xfrm>
            <a:off x="960120" y="2578608"/>
            <a:ext cx="3017520" cy="384048"/>
          </a:xfrm>
          <a:prstGeom prst="rect">
            <a:avLst/>
          </a:prstGeom>
          <a:noFill/>
        </p:spPr>
        <p:txBody>
          <a:bodyPr wrap="square" anchor="t">
            <a:spAutoFit/>
          </a:bodyPr>
          <a:lstStyle/>
          <a:p>
            <a:pPr algn="ctr">
              <a:defRPr sz="1000" b="0">
                <a:solidFill>
                  <a:srgbClr val="6C757D"/>
                </a:solidFill>
              </a:defRPr>
            </a:pPr>
            <a:r>
              <a:t>fresh transport-consistent replay</a:t>
            </a:r>
          </a:p>
        </p:txBody>
      </p:sp>
      <p:sp>
        <p:nvSpPr>
          <p:cNvPr id="9" name="Rounded Rectangle 8"/>
          <p:cNvSpPr/>
          <p:nvPr/>
        </p:nvSpPr>
        <p:spPr>
          <a:xfrm>
            <a:off x="4389120" y="1463040"/>
            <a:ext cx="3291840" cy="155448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0" y="1719072"/>
            <a:ext cx="3291840" cy="502920"/>
          </a:xfrm>
          <a:prstGeom prst="rect">
            <a:avLst/>
          </a:prstGeom>
          <a:noFill/>
        </p:spPr>
        <p:txBody>
          <a:bodyPr wrap="square" anchor="t">
            <a:spAutoFit/>
          </a:bodyPr>
          <a:lstStyle/>
          <a:p>
            <a:pPr algn="ctr">
              <a:defRPr sz="2600" b="1">
                <a:solidFill>
                  <a:srgbClr val="24795D"/>
                </a:solidFill>
              </a:defRPr>
            </a:pPr>
            <a:r>
              <a:t>3.28%</a:t>
            </a:r>
          </a:p>
        </p:txBody>
      </p:sp>
      <p:sp>
        <p:nvSpPr>
          <p:cNvPr id="11" name="TextBox 10"/>
          <p:cNvSpPr txBox="1"/>
          <p:nvPr/>
        </p:nvSpPr>
        <p:spPr>
          <a:xfrm>
            <a:off x="4389120" y="2304288"/>
            <a:ext cx="3291840" cy="274320"/>
          </a:xfrm>
          <a:prstGeom prst="rect">
            <a:avLst/>
          </a:prstGeom>
          <a:noFill/>
        </p:spPr>
        <p:txBody>
          <a:bodyPr wrap="square" anchor="t">
            <a:spAutoFit/>
          </a:bodyPr>
          <a:lstStyle/>
          <a:p>
            <a:pPr algn="ctr">
              <a:defRPr sz="1300" b="1">
                <a:solidFill>
                  <a:srgbClr val="19263B"/>
                </a:solidFill>
              </a:defRPr>
            </a:pPr>
            <a:r>
              <a:t>Power MAPE</a:t>
            </a:r>
          </a:p>
        </p:txBody>
      </p:sp>
      <p:sp>
        <p:nvSpPr>
          <p:cNvPr id="12" name="TextBox 11"/>
          <p:cNvSpPr txBox="1"/>
          <p:nvPr/>
        </p:nvSpPr>
        <p:spPr>
          <a:xfrm>
            <a:off x="4526280" y="2578608"/>
            <a:ext cx="3017520" cy="384048"/>
          </a:xfrm>
          <a:prstGeom prst="rect">
            <a:avLst/>
          </a:prstGeom>
          <a:noFill/>
        </p:spPr>
        <p:txBody>
          <a:bodyPr wrap="square" anchor="t">
            <a:spAutoFit/>
          </a:bodyPr>
          <a:lstStyle/>
          <a:p>
            <a:pPr algn="ctr">
              <a:defRPr sz="1000" b="0">
                <a:solidFill>
                  <a:srgbClr val="6C757D"/>
                </a:solidFill>
              </a:defRPr>
            </a:pPr>
            <a:r>
              <a:t>after per-node power scaling</a:t>
            </a:r>
          </a:p>
        </p:txBody>
      </p:sp>
      <p:sp>
        <p:nvSpPr>
          <p:cNvPr id="13" name="Rounded Rectangle 12"/>
          <p:cNvSpPr/>
          <p:nvPr/>
        </p:nvSpPr>
        <p:spPr>
          <a:xfrm>
            <a:off x="7955279" y="1463040"/>
            <a:ext cx="3291840" cy="155448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1719072"/>
            <a:ext cx="3291840" cy="502920"/>
          </a:xfrm>
          <a:prstGeom prst="rect">
            <a:avLst/>
          </a:prstGeom>
          <a:noFill/>
        </p:spPr>
        <p:txBody>
          <a:bodyPr wrap="square" anchor="t">
            <a:spAutoFit/>
          </a:bodyPr>
          <a:lstStyle/>
          <a:p>
            <a:pPr algn="ctr">
              <a:defRPr sz="2600" b="1">
                <a:solidFill>
                  <a:srgbClr val="24795D"/>
                </a:solidFill>
              </a:defRPr>
            </a:pPr>
            <a:r>
              <a:t>7.86%</a:t>
            </a:r>
          </a:p>
        </p:txBody>
      </p:sp>
      <p:sp>
        <p:nvSpPr>
          <p:cNvPr id="15" name="TextBox 14"/>
          <p:cNvSpPr txBox="1"/>
          <p:nvPr/>
        </p:nvSpPr>
        <p:spPr>
          <a:xfrm>
            <a:off x="7955279" y="2304288"/>
            <a:ext cx="3291840" cy="274320"/>
          </a:xfrm>
          <a:prstGeom prst="rect">
            <a:avLst/>
          </a:prstGeom>
          <a:noFill/>
        </p:spPr>
        <p:txBody>
          <a:bodyPr wrap="square" anchor="t">
            <a:spAutoFit/>
          </a:bodyPr>
          <a:lstStyle/>
          <a:p>
            <a:pPr algn="ctr">
              <a:defRPr sz="1300" b="1">
                <a:solidFill>
                  <a:srgbClr val="19263B"/>
                </a:solidFill>
              </a:defRPr>
            </a:pPr>
            <a:r>
              <a:t>Energy MAPE</a:t>
            </a:r>
          </a:p>
        </p:txBody>
      </p:sp>
      <p:sp>
        <p:nvSpPr>
          <p:cNvPr id="16" name="TextBox 15"/>
          <p:cNvSpPr txBox="1"/>
          <p:nvPr/>
        </p:nvSpPr>
        <p:spPr>
          <a:xfrm>
            <a:off x="8092440" y="2578608"/>
            <a:ext cx="3017520" cy="384048"/>
          </a:xfrm>
          <a:prstGeom prst="rect">
            <a:avLst/>
          </a:prstGeom>
          <a:noFill/>
        </p:spPr>
        <p:txBody>
          <a:bodyPr wrap="square" anchor="t">
            <a:spAutoFit/>
          </a:bodyPr>
          <a:lstStyle/>
          <a:p>
            <a:pPr algn="ctr">
              <a:defRPr sz="1000" b="0">
                <a:solidFill>
                  <a:srgbClr val="6C757D"/>
                </a:solidFill>
              </a:defRPr>
            </a:pPr>
            <a:r>
              <a:t>artifact-backed local replay</a:t>
            </a:r>
          </a:p>
        </p:txBody>
      </p:sp>
      <p:sp>
        <p:nvSpPr>
          <p:cNvPr id="17" name="Rounded Rectangle 16"/>
          <p:cNvSpPr/>
          <p:nvPr/>
        </p:nvSpPr>
        <p:spPr>
          <a:xfrm>
            <a:off x="11521440" y="1463040"/>
            <a:ext cx="2286000" cy="155448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50650" y="1586230"/>
            <a:ext cx="2148840" cy="891540"/>
          </a:xfrm>
          <a:prstGeom prst="rect">
            <a:avLst/>
          </a:prstGeom>
          <a:noFill/>
        </p:spPr>
        <p:txBody>
          <a:bodyPr wrap="square" anchor="t">
            <a:spAutoFit/>
          </a:bodyPr>
          <a:lstStyle/>
          <a:p>
            <a:pPr algn="ctr">
              <a:defRPr sz="2600" b="1">
                <a:solidFill>
                  <a:srgbClr val="34568B"/>
                </a:solidFill>
              </a:defRPr>
            </a:pPr>
            <a:r>
              <a:t>2.220525e-11 s/byte</a:t>
            </a:r>
          </a:p>
        </p:txBody>
      </p:sp>
      <p:sp>
        <p:nvSpPr>
          <p:cNvPr id="19" name="TextBox 18"/>
          <p:cNvSpPr txBox="1"/>
          <p:nvPr/>
        </p:nvSpPr>
        <p:spPr>
          <a:xfrm>
            <a:off x="11612880" y="2358898"/>
            <a:ext cx="2011680" cy="274320"/>
          </a:xfrm>
          <a:prstGeom prst="rect">
            <a:avLst/>
          </a:prstGeom>
          <a:noFill/>
        </p:spPr>
        <p:txBody>
          <a:bodyPr wrap="square" anchor="t">
            <a:spAutoFit/>
          </a:bodyPr>
          <a:lstStyle/>
          <a:p>
            <a:pPr algn="ctr">
              <a:defRPr sz="1300" b="1">
                <a:solidFill>
                  <a:srgbClr val="19263B"/>
                </a:solidFill>
              </a:defRPr>
            </a:pPr>
            <a:r>
              <a:t>alpha_dp</a:t>
            </a:r>
          </a:p>
        </p:txBody>
      </p:sp>
      <p:sp>
        <p:nvSpPr>
          <p:cNvPr id="20" name="TextBox 19"/>
          <p:cNvSpPr txBox="1"/>
          <p:nvPr/>
        </p:nvSpPr>
        <p:spPr>
          <a:xfrm>
            <a:off x="11795760" y="2578608"/>
            <a:ext cx="1737360" cy="384048"/>
          </a:xfrm>
          <a:prstGeom prst="rect">
            <a:avLst/>
          </a:prstGeom>
          <a:noFill/>
        </p:spPr>
        <p:txBody>
          <a:bodyPr wrap="square" anchor="t">
            <a:spAutoFit/>
          </a:bodyPr>
          <a:lstStyle/>
          <a:p>
            <a:pPr algn="ctr">
              <a:defRPr sz="1000" b="0">
                <a:solidFill>
                  <a:srgbClr val="6C757D"/>
                </a:solidFill>
              </a:defRPr>
            </a:pPr>
            <a:r>
              <a:t>IB fast-network scale</a:t>
            </a:r>
          </a:p>
        </p:txBody>
      </p:sp>
      <p:sp>
        <p:nvSpPr>
          <p:cNvPr id="21" name="Rounded Rectangle 20"/>
          <p:cNvSpPr/>
          <p:nvPr/>
        </p:nvSpPr>
        <p:spPr>
          <a:xfrm>
            <a:off x="731520" y="3337560"/>
            <a:ext cx="6400800" cy="28803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447288"/>
            <a:ext cx="6071616" cy="256032"/>
          </a:xfrm>
          <a:prstGeom prst="rect">
            <a:avLst/>
          </a:prstGeom>
          <a:noFill/>
        </p:spPr>
        <p:txBody>
          <a:bodyPr wrap="square" anchor="t">
            <a:spAutoFit/>
          </a:bodyPr>
          <a:lstStyle/>
          <a:p>
            <a:pPr algn="l">
              <a:defRPr sz="1300" b="1">
                <a:solidFill>
                  <a:srgbClr val="19263B"/>
                </a:solidFill>
              </a:defRPr>
            </a:pPr>
            <a:r>
              <a:t>时间：观测值 vs 预测值</a:t>
            </a:r>
          </a:p>
        </p:txBody>
      </p:sp>
      <p:sp>
        <p:nvSpPr>
          <p:cNvPr id="23" name="TextBox 22"/>
          <p:cNvSpPr txBox="1"/>
          <p:nvPr/>
        </p:nvSpPr>
        <p:spPr>
          <a:xfrm>
            <a:off x="896112" y="3685032"/>
            <a:ext cx="6071616" cy="201168"/>
          </a:xfrm>
          <a:prstGeom prst="rect">
            <a:avLst/>
          </a:prstGeom>
          <a:noFill/>
        </p:spPr>
        <p:txBody>
          <a:bodyPr wrap="square" anchor="t">
            <a:spAutoFit/>
          </a:bodyPr>
          <a:lstStyle/>
          <a:p>
            <a:pPr algn="l">
              <a:defRPr sz="900" b="0">
                <a:solidFill>
                  <a:srgbClr val="6C757D"/>
                </a:solidFill>
              </a:defRPr>
            </a:pPr>
            <a:r>
              <a:t>当前主要剩余误差集中在 runtime</a:t>
            </a:r>
          </a:p>
        </p:txBody>
      </p:sp>
      <p:graphicFrame>
        <p:nvGraphicFramePr>
          <p:cNvPr id="24" name="Chart 23"/>
          <p:cNvGraphicFramePr>
            <a:graphicFrameLocks noGrp="1"/>
          </p:cNvGraphicFramePr>
          <p:nvPr/>
        </p:nvGraphicFramePr>
        <p:xfrm>
          <a:off x="841248" y="3941063"/>
          <a:ext cx="6181344" cy="2167128"/>
        </p:xfrm>
        <a:graphic>
          <a:graphicData uri="http://schemas.openxmlformats.org/drawingml/2006/chart">
            <c:chart xmlns:c="http://schemas.openxmlformats.org/drawingml/2006/chart" xmlns:r="http://schemas.openxmlformats.org/officeDocument/2006/relationships" r:id="rId1"/>
          </a:graphicData>
        </a:graphic>
      </p:graphicFrame>
      <p:sp>
        <p:nvSpPr>
          <p:cNvPr id="25" name="Rounded Rectangle 24"/>
          <p:cNvSpPr/>
          <p:nvPr/>
        </p:nvSpPr>
        <p:spPr>
          <a:xfrm>
            <a:off x="7406640" y="3337560"/>
            <a:ext cx="6400800" cy="28803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447288"/>
            <a:ext cx="6071616" cy="256032"/>
          </a:xfrm>
          <a:prstGeom prst="rect">
            <a:avLst/>
          </a:prstGeom>
          <a:noFill/>
        </p:spPr>
        <p:txBody>
          <a:bodyPr wrap="square" anchor="t">
            <a:spAutoFit/>
          </a:bodyPr>
          <a:lstStyle/>
          <a:p>
            <a:pPr algn="l">
              <a:defRPr sz="1300" b="1">
                <a:solidFill>
                  <a:srgbClr val="19263B"/>
                </a:solidFill>
              </a:defRPr>
            </a:pPr>
            <a:r>
              <a:t>平均功率：观测值 vs 预测值</a:t>
            </a:r>
          </a:p>
        </p:txBody>
      </p:sp>
      <p:sp>
        <p:nvSpPr>
          <p:cNvPr id="27" name="TextBox 26"/>
          <p:cNvSpPr txBox="1"/>
          <p:nvPr/>
        </p:nvSpPr>
        <p:spPr>
          <a:xfrm>
            <a:off x="7571231" y="3685032"/>
            <a:ext cx="6071616" cy="201168"/>
          </a:xfrm>
          <a:prstGeom prst="rect">
            <a:avLst/>
          </a:prstGeom>
          <a:noFill/>
        </p:spPr>
        <p:txBody>
          <a:bodyPr wrap="square" anchor="t">
            <a:spAutoFit/>
          </a:bodyPr>
          <a:lstStyle/>
          <a:p>
            <a:pPr algn="l">
              <a:defRPr sz="900" b="0">
                <a:solidFill>
                  <a:srgbClr val="6C757D"/>
                </a:solidFill>
              </a:defRPr>
            </a:pPr>
            <a:r>
              <a:t>power path 已明显收敛</a:t>
            </a:r>
          </a:p>
        </p:txBody>
      </p:sp>
      <p:graphicFrame>
        <p:nvGraphicFramePr>
          <p:cNvPr id="28" name="Chart 27"/>
          <p:cNvGraphicFramePr>
            <a:graphicFrameLocks noGrp="1"/>
          </p:cNvGraphicFramePr>
          <p:nvPr/>
        </p:nvGraphicFramePr>
        <p:xfrm>
          <a:off x="7516367" y="3941063"/>
          <a:ext cx="6181344" cy="2167128"/>
        </p:xfrm>
        <a:graphic>
          <a:graphicData uri="http://schemas.openxmlformats.org/drawingml/2006/chart">
            <c:chart xmlns:c="http://schemas.openxmlformats.org/drawingml/2006/chart" xmlns:r="http://schemas.openxmlformats.org/officeDocument/2006/relationships" r:id="rId2"/>
          </a:graphicData>
        </a:graphic>
      </p:graphicFrame>
      <p:sp>
        <p:nvSpPr>
          <p:cNvPr id="29" name="Rounded Rectangle 28"/>
          <p:cNvSpPr/>
          <p:nvPr/>
        </p:nvSpPr>
        <p:spPr>
          <a:xfrm>
            <a:off x="822960" y="6355080"/>
            <a:ext cx="12984480" cy="914400"/>
          </a:xfrm>
          <a:prstGeom prst="roundRect">
            <a:avLst/>
          </a:prstGeom>
          <a:solidFill>
            <a:srgbClr val="EBF1F9"/>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6492240"/>
            <a:ext cx="12618719" cy="320040"/>
          </a:xfrm>
          <a:prstGeom prst="rect">
            <a:avLst/>
          </a:prstGeom>
          <a:noFill/>
        </p:spPr>
        <p:txBody>
          <a:bodyPr wrap="square" anchor="t">
            <a:spAutoFit/>
          </a:bodyPr>
          <a:lstStyle/>
          <a:p>
            <a:pPr algn="l">
              <a:defRPr sz="1300" b="1">
                <a:solidFill>
                  <a:srgbClr val="19263B"/>
                </a:solidFill>
              </a:defRPr>
            </a:pPr>
            <a:r>
              <a:t>解释</a:t>
            </a:r>
          </a:p>
        </p:txBody>
      </p:sp>
      <p:sp>
        <p:nvSpPr>
          <p:cNvPr id="31" name="TextBox 30"/>
          <p:cNvSpPr txBox="1"/>
          <p:nvPr/>
        </p:nvSpPr>
        <p:spPr>
          <a:xfrm>
            <a:off x="1005840" y="6858000"/>
            <a:ext cx="12618719" cy="228600"/>
          </a:xfrm>
          <a:prstGeom prst="rect">
            <a:avLst/>
          </a:prstGeom>
          <a:noFill/>
        </p:spPr>
        <p:txBody>
          <a:bodyPr wrap="square">
            <a:spAutoFit/>
          </a:bodyPr>
          <a:lstStyle/>
          <a:p>
            <a:pPr>
              <a:spcAft>
                <a:spcPts val="800"/>
              </a:spcAft>
              <a:defRPr sz="1100">
                <a:solidFill>
                  <a:srgbClr val="2E3A4A"/>
                </a:solidFill>
              </a:defRPr>
            </a:pPr>
            <a:r>
              <a:t>• 旧的 `98.5%` 是历史 motivating failure；当前正式 paired replay 已收敛到 `11.48% / 3.28% / 7.86%`。剩余主要误差在 runtime，而不再是 power/energy。</a:t>
            </a:r>
          </a:p>
        </p:txBody>
      </p:sp>
      <p:sp>
        <p:nvSpPr>
          <p:cNvPr id="32" name="TextBox 31"/>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Artifact source: .context/paper/experimental_data.md and IB transfer_prediction_report.md</a:t>
            </a:r>
          </a:p>
        </p:txBody>
      </p:sp>
      <p:sp>
        <p:nvSpPr>
          <p:cNvPr id="33" name="TextBox 32"/>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10. Ethernet formal replay：预测层在慢网络场景仍可工作</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05840"/>
            <a:ext cx="13258800" cy="320040"/>
          </a:xfrm>
          <a:prstGeom prst="rect">
            <a:avLst/>
          </a:prstGeom>
          <a:noFill/>
        </p:spPr>
        <p:txBody>
          <a:bodyPr wrap="square" anchor="t">
            <a:spAutoFit/>
          </a:bodyPr>
          <a:lstStyle/>
          <a:p>
            <a:pPr algn="l">
              <a:defRPr sz="1200" b="0">
                <a:solidFill>
                  <a:srgbClr val="6C757D"/>
                </a:solidFill>
              </a:defRPr>
            </a:pPr>
            <a:r>
              <a:t>formal replay: `1x4 -&gt; 2x4`, Ethernet, TP=1/PP=2 path</a:t>
            </a:r>
          </a:p>
        </p:txBody>
      </p:sp>
      <p:sp>
        <p:nvSpPr>
          <p:cNvPr id="5" name="Rounded Rectangle 4"/>
          <p:cNvSpPr/>
          <p:nvPr/>
        </p:nvSpPr>
        <p:spPr>
          <a:xfrm>
            <a:off x="822960" y="1463040"/>
            <a:ext cx="3108960" cy="155448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719072"/>
            <a:ext cx="3108960" cy="502920"/>
          </a:xfrm>
          <a:prstGeom prst="rect">
            <a:avLst/>
          </a:prstGeom>
          <a:noFill/>
        </p:spPr>
        <p:txBody>
          <a:bodyPr wrap="square" anchor="t">
            <a:spAutoFit/>
          </a:bodyPr>
          <a:lstStyle/>
          <a:p>
            <a:pPr algn="ctr">
              <a:defRPr sz="2600" b="1">
                <a:solidFill>
                  <a:srgbClr val="34568B"/>
                </a:solidFill>
              </a:defRPr>
            </a:pPr>
            <a:r>
              <a:t>5.16%</a:t>
            </a:r>
          </a:p>
        </p:txBody>
      </p:sp>
      <p:sp>
        <p:nvSpPr>
          <p:cNvPr id="7" name="TextBox 6"/>
          <p:cNvSpPr txBox="1"/>
          <p:nvPr/>
        </p:nvSpPr>
        <p:spPr>
          <a:xfrm>
            <a:off x="822960" y="2304288"/>
            <a:ext cx="3108960" cy="274320"/>
          </a:xfrm>
          <a:prstGeom prst="rect">
            <a:avLst/>
          </a:prstGeom>
          <a:noFill/>
        </p:spPr>
        <p:txBody>
          <a:bodyPr wrap="square" anchor="t">
            <a:spAutoFit/>
          </a:bodyPr>
          <a:lstStyle/>
          <a:p>
            <a:pPr algn="ctr">
              <a:defRPr sz="1300" b="1">
                <a:solidFill>
                  <a:srgbClr val="19263B"/>
                </a:solidFill>
              </a:defRPr>
            </a:pPr>
            <a:r>
              <a:t>Time MAPE</a:t>
            </a:r>
          </a:p>
        </p:txBody>
      </p:sp>
      <p:sp>
        <p:nvSpPr>
          <p:cNvPr id="8" name="TextBox 7"/>
          <p:cNvSpPr txBox="1"/>
          <p:nvPr/>
        </p:nvSpPr>
        <p:spPr>
          <a:xfrm>
            <a:off x="960120" y="2578608"/>
            <a:ext cx="2834640" cy="384048"/>
          </a:xfrm>
          <a:prstGeom prst="rect">
            <a:avLst/>
          </a:prstGeom>
          <a:noFill/>
        </p:spPr>
        <p:txBody>
          <a:bodyPr wrap="square" anchor="t">
            <a:spAutoFit/>
          </a:bodyPr>
          <a:lstStyle/>
          <a:p>
            <a:pPr algn="ctr">
              <a:defRPr sz="1000" b="0">
                <a:solidFill>
                  <a:srgbClr val="6C757D"/>
                </a:solidFill>
              </a:defRPr>
            </a:pPr>
            <a:r>
              <a:t>formal `1x4 -&gt; 2x4` replay</a:t>
            </a:r>
          </a:p>
        </p:txBody>
      </p:sp>
      <p:sp>
        <p:nvSpPr>
          <p:cNvPr id="9" name="Rounded Rectangle 8"/>
          <p:cNvSpPr/>
          <p:nvPr/>
        </p:nvSpPr>
        <p:spPr>
          <a:xfrm>
            <a:off x="4206240" y="1463040"/>
            <a:ext cx="3108960" cy="155448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1719072"/>
            <a:ext cx="3108960" cy="502920"/>
          </a:xfrm>
          <a:prstGeom prst="rect">
            <a:avLst/>
          </a:prstGeom>
          <a:noFill/>
        </p:spPr>
        <p:txBody>
          <a:bodyPr wrap="square" anchor="t">
            <a:spAutoFit/>
          </a:bodyPr>
          <a:lstStyle/>
          <a:p>
            <a:pPr algn="ctr">
              <a:defRPr sz="2600" b="1">
                <a:solidFill>
                  <a:srgbClr val="A85C2C"/>
                </a:solidFill>
              </a:defRPr>
            </a:pPr>
            <a:r>
              <a:t>12.38%</a:t>
            </a:r>
          </a:p>
        </p:txBody>
      </p:sp>
      <p:sp>
        <p:nvSpPr>
          <p:cNvPr id="11" name="TextBox 10"/>
          <p:cNvSpPr txBox="1"/>
          <p:nvPr/>
        </p:nvSpPr>
        <p:spPr>
          <a:xfrm>
            <a:off x="4206240" y="2304288"/>
            <a:ext cx="3108960" cy="274320"/>
          </a:xfrm>
          <a:prstGeom prst="rect">
            <a:avLst/>
          </a:prstGeom>
          <a:noFill/>
        </p:spPr>
        <p:txBody>
          <a:bodyPr wrap="square" anchor="t">
            <a:spAutoFit/>
          </a:bodyPr>
          <a:lstStyle/>
          <a:p>
            <a:pPr algn="ctr">
              <a:defRPr sz="1300" b="1">
                <a:solidFill>
                  <a:srgbClr val="19263B"/>
                </a:solidFill>
              </a:defRPr>
            </a:pPr>
            <a:r>
              <a:t>Power MAPE</a:t>
            </a:r>
          </a:p>
        </p:txBody>
      </p:sp>
      <p:sp>
        <p:nvSpPr>
          <p:cNvPr id="12" name="TextBox 11"/>
          <p:cNvSpPr txBox="1"/>
          <p:nvPr/>
        </p:nvSpPr>
        <p:spPr>
          <a:xfrm>
            <a:off x="4343400" y="2578608"/>
            <a:ext cx="2834640" cy="384048"/>
          </a:xfrm>
          <a:prstGeom prst="rect">
            <a:avLst/>
          </a:prstGeom>
          <a:noFill/>
        </p:spPr>
        <p:txBody>
          <a:bodyPr wrap="square" anchor="t">
            <a:spAutoFit/>
          </a:bodyPr>
          <a:lstStyle/>
          <a:p>
            <a:pPr algn="ctr">
              <a:defRPr sz="1000" b="0">
                <a:solidFill>
                  <a:srgbClr val="6C757D"/>
                </a:solidFill>
              </a:defRPr>
            </a:pPr>
            <a:r>
              <a:t>power 侧仍明显弱于 IB</a:t>
            </a:r>
          </a:p>
        </p:txBody>
      </p:sp>
      <p:sp>
        <p:nvSpPr>
          <p:cNvPr id="13" name="Rounded Rectangle 12"/>
          <p:cNvSpPr/>
          <p:nvPr/>
        </p:nvSpPr>
        <p:spPr>
          <a:xfrm>
            <a:off x="7589520" y="1463040"/>
            <a:ext cx="3108960" cy="155448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1719072"/>
            <a:ext cx="3108960" cy="502920"/>
          </a:xfrm>
          <a:prstGeom prst="rect">
            <a:avLst/>
          </a:prstGeom>
          <a:noFill/>
        </p:spPr>
        <p:txBody>
          <a:bodyPr wrap="square" anchor="t">
            <a:spAutoFit/>
          </a:bodyPr>
          <a:lstStyle/>
          <a:p>
            <a:pPr algn="ctr">
              <a:defRPr sz="2600" b="1">
                <a:solidFill>
                  <a:srgbClr val="24795D"/>
                </a:solidFill>
              </a:defRPr>
            </a:pPr>
            <a:r>
              <a:t>10.42%</a:t>
            </a:r>
          </a:p>
        </p:txBody>
      </p:sp>
      <p:sp>
        <p:nvSpPr>
          <p:cNvPr id="15" name="TextBox 14"/>
          <p:cNvSpPr txBox="1"/>
          <p:nvPr/>
        </p:nvSpPr>
        <p:spPr>
          <a:xfrm>
            <a:off x="7589520" y="2304288"/>
            <a:ext cx="3108960" cy="274320"/>
          </a:xfrm>
          <a:prstGeom prst="rect">
            <a:avLst/>
          </a:prstGeom>
          <a:noFill/>
        </p:spPr>
        <p:txBody>
          <a:bodyPr wrap="square" anchor="t">
            <a:spAutoFit/>
          </a:bodyPr>
          <a:lstStyle/>
          <a:p>
            <a:pPr algn="ctr">
              <a:defRPr sz="1300" b="1">
                <a:solidFill>
                  <a:srgbClr val="19263B"/>
                </a:solidFill>
              </a:defRPr>
            </a:pPr>
            <a:r>
              <a:t>Energy MAPE</a:t>
            </a:r>
          </a:p>
        </p:txBody>
      </p:sp>
      <p:sp>
        <p:nvSpPr>
          <p:cNvPr id="16" name="TextBox 15"/>
          <p:cNvSpPr txBox="1"/>
          <p:nvPr/>
        </p:nvSpPr>
        <p:spPr>
          <a:xfrm>
            <a:off x="7726680" y="2578608"/>
            <a:ext cx="2834640" cy="384048"/>
          </a:xfrm>
          <a:prstGeom prst="rect">
            <a:avLst/>
          </a:prstGeom>
          <a:noFill/>
        </p:spPr>
        <p:txBody>
          <a:bodyPr wrap="square" anchor="t">
            <a:spAutoFit/>
          </a:bodyPr>
          <a:lstStyle/>
          <a:p>
            <a:pPr algn="ctr">
              <a:defRPr sz="1000" b="0">
                <a:solidFill>
                  <a:srgbClr val="6C757D"/>
                </a:solidFill>
              </a:defRPr>
            </a:pPr>
            <a:r>
              <a:t>energy 已接近可比较边界</a:t>
            </a:r>
          </a:p>
        </p:txBody>
      </p:sp>
      <p:sp>
        <p:nvSpPr>
          <p:cNvPr id="17" name="Rounded Rectangle 16"/>
          <p:cNvSpPr/>
          <p:nvPr/>
        </p:nvSpPr>
        <p:spPr>
          <a:xfrm>
            <a:off x="10972800" y="1463040"/>
            <a:ext cx="2834640" cy="155448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0" y="1563497"/>
            <a:ext cx="2834640" cy="502920"/>
          </a:xfrm>
          <a:prstGeom prst="rect">
            <a:avLst/>
          </a:prstGeom>
          <a:noFill/>
        </p:spPr>
        <p:txBody>
          <a:bodyPr wrap="square" anchor="t">
            <a:spAutoFit/>
          </a:bodyPr>
          <a:lstStyle/>
          <a:p>
            <a:pPr algn="ctr">
              <a:defRPr sz="2600" b="1">
                <a:solidFill>
                  <a:srgbClr val="A85C2C"/>
                </a:solidFill>
              </a:defRPr>
            </a:pPr>
            <a:r>
              <a:t>7.321889e-10 s/byte</a:t>
            </a:r>
          </a:p>
        </p:txBody>
      </p:sp>
      <p:sp>
        <p:nvSpPr>
          <p:cNvPr id="19" name="TextBox 18"/>
          <p:cNvSpPr txBox="1"/>
          <p:nvPr/>
        </p:nvSpPr>
        <p:spPr>
          <a:xfrm>
            <a:off x="10972800" y="2354453"/>
            <a:ext cx="2834640" cy="274320"/>
          </a:xfrm>
          <a:prstGeom prst="rect">
            <a:avLst/>
          </a:prstGeom>
          <a:noFill/>
        </p:spPr>
        <p:txBody>
          <a:bodyPr wrap="square" anchor="t">
            <a:spAutoFit/>
          </a:bodyPr>
          <a:lstStyle/>
          <a:p>
            <a:pPr algn="ctr">
              <a:defRPr sz="1300" b="1">
                <a:solidFill>
                  <a:srgbClr val="19263B"/>
                </a:solidFill>
              </a:defRPr>
            </a:pPr>
            <a:r>
              <a:t>alpha_dp</a:t>
            </a:r>
          </a:p>
        </p:txBody>
      </p:sp>
      <p:sp>
        <p:nvSpPr>
          <p:cNvPr id="20" name="TextBox 19"/>
          <p:cNvSpPr txBox="1"/>
          <p:nvPr/>
        </p:nvSpPr>
        <p:spPr>
          <a:xfrm>
            <a:off x="11109960" y="2633218"/>
            <a:ext cx="2560320" cy="384048"/>
          </a:xfrm>
          <a:prstGeom prst="rect">
            <a:avLst/>
          </a:prstGeom>
          <a:noFill/>
        </p:spPr>
        <p:txBody>
          <a:bodyPr wrap="square" anchor="t">
            <a:spAutoFit/>
          </a:bodyPr>
          <a:lstStyle/>
          <a:p>
            <a:pPr algn="ctr">
              <a:defRPr sz="1000" b="0">
                <a:solidFill>
                  <a:srgbClr val="6C757D"/>
                </a:solidFill>
              </a:defRPr>
            </a:pPr>
            <a:r>
              <a:t>slow-network scale</a:t>
            </a:r>
          </a:p>
        </p:txBody>
      </p:sp>
      <p:sp>
        <p:nvSpPr>
          <p:cNvPr id="21" name="Rounded Rectangle 20"/>
          <p:cNvSpPr/>
          <p:nvPr/>
        </p:nvSpPr>
        <p:spPr>
          <a:xfrm>
            <a:off x="731520" y="3337560"/>
            <a:ext cx="6400800" cy="28803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447288"/>
            <a:ext cx="6071616" cy="256032"/>
          </a:xfrm>
          <a:prstGeom prst="rect">
            <a:avLst/>
          </a:prstGeom>
          <a:noFill/>
        </p:spPr>
        <p:txBody>
          <a:bodyPr wrap="square" anchor="t">
            <a:spAutoFit/>
          </a:bodyPr>
          <a:lstStyle/>
          <a:p>
            <a:pPr algn="l">
              <a:defRPr sz="1300" b="1">
                <a:solidFill>
                  <a:srgbClr val="19263B"/>
                </a:solidFill>
              </a:defRPr>
            </a:pPr>
            <a:r>
              <a:t>时间：观测值 vs 预测值</a:t>
            </a:r>
          </a:p>
        </p:txBody>
      </p:sp>
      <p:sp>
        <p:nvSpPr>
          <p:cNvPr id="23" name="TextBox 22"/>
          <p:cNvSpPr txBox="1"/>
          <p:nvPr/>
        </p:nvSpPr>
        <p:spPr>
          <a:xfrm>
            <a:off x="896112" y="3685032"/>
            <a:ext cx="6071616" cy="201168"/>
          </a:xfrm>
          <a:prstGeom prst="rect">
            <a:avLst/>
          </a:prstGeom>
          <a:noFill/>
        </p:spPr>
        <p:txBody>
          <a:bodyPr wrap="square" anchor="t">
            <a:spAutoFit/>
          </a:bodyPr>
          <a:lstStyle/>
          <a:p>
            <a:pPr algn="l">
              <a:defRPr sz="900" b="0">
                <a:solidFill>
                  <a:srgbClr val="6C757D"/>
                </a:solidFill>
              </a:defRPr>
            </a:pPr>
            <a:r>
              <a:t>time path 已进入可用范围</a:t>
            </a:r>
          </a:p>
        </p:txBody>
      </p:sp>
      <p:graphicFrame>
        <p:nvGraphicFramePr>
          <p:cNvPr id="24" name="Chart 23"/>
          <p:cNvGraphicFramePr>
            <a:graphicFrameLocks noGrp="1"/>
          </p:cNvGraphicFramePr>
          <p:nvPr/>
        </p:nvGraphicFramePr>
        <p:xfrm>
          <a:off x="841248" y="3941063"/>
          <a:ext cx="6181344" cy="2167128"/>
        </p:xfrm>
        <a:graphic>
          <a:graphicData uri="http://schemas.openxmlformats.org/drawingml/2006/chart">
            <c:chart xmlns:c="http://schemas.openxmlformats.org/drawingml/2006/chart" xmlns:r="http://schemas.openxmlformats.org/officeDocument/2006/relationships" r:id="rId1"/>
          </a:graphicData>
        </a:graphic>
      </p:graphicFrame>
      <p:sp>
        <p:nvSpPr>
          <p:cNvPr id="25" name="Rounded Rectangle 24"/>
          <p:cNvSpPr/>
          <p:nvPr/>
        </p:nvSpPr>
        <p:spPr>
          <a:xfrm>
            <a:off x="7406640" y="3337560"/>
            <a:ext cx="6400800" cy="2880360"/>
          </a:xfrm>
          <a:prstGeom prst="roundRect">
            <a:avLst/>
          </a:prstGeom>
          <a:solidFill>
            <a:srgbClr val="FFFFFF"/>
          </a:solidFill>
          <a:ln>
            <a:solidFill>
              <a:srgbClr val="D5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447288"/>
            <a:ext cx="6071616" cy="256032"/>
          </a:xfrm>
          <a:prstGeom prst="rect">
            <a:avLst/>
          </a:prstGeom>
          <a:noFill/>
        </p:spPr>
        <p:txBody>
          <a:bodyPr wrap="square" anchor="t">
            <a:spAutoFit/>
          </a:bodyPr>
          <a:lstStyle/>
          <a:p>
            <a:pPr algn="l">
              <a:defRPr sz="1300" b="1">
                <a:solidFill>
                  <a:srgbClr val="19263B"/>
                </a:solidFill>
              </a:defRPr>
            </a:pPr>
            <a:r>
              <a:t>逐频点 APE (%)</a:t>
            </a:r>
          </a:p>
        </p:txBody>
      </p:sp>
      <p:sp>
        <p:nvSpPr>
          <p:cNvPr id="27" name="TextBox 26"/>
          <p:cNvSpPr txBox="1"/>
          <p:nvPr/>
        </p:nvSpPr>
        <p:spPr>
          <a:xfrm>
            <a:off x="7571231" y="3685032"/>
            <a:ext cx="6071616" cy="201168"/>
          </a:xfrm>
          <a:prstGeom prst="rect">
            <a:avLst/>
          </a:prstGeom>
          <a:noFill/>
        </p:spPr>
        <p:txBody>
          <a:bodyPr wrap="square" anchor="t">
            <a:spAutoFit/>
          </a:bodyPr>
          <a:lstStyle/>
          <a:p>
            <a:pPr algn="l">
              <a:defRPr sz="900" b="0">
                <a:solidFill>
                  <a:srgbClr val="6C757D"/>
                </a:solidFill>
              </a:defRPr>
            </a:pPr>
            <a:r>
              <a:t>power 侧仍明显弱于 IB</a:t>
            </a:r>
          </a:p>
        </p:txBody>
      </p:sp>
      <p:graphicFrame>
        <p:nvGraphicFramePr>
          <p:cNvPr id="28" name="Chart 27"/>
          <p:cNvGraphicFramePr>
            <a:graphicFrameLocks noGrp="1"/>
          </p:cNvGraphicFramePr>
          <p:nvPr/>
        </p:nvGraphicFramePr>
        <p:xfrm>
          <a:off x="7516367" y="3941063"/>
          <a:ext cx="6181344" cy="2167128"/>
        </p:xfrm>
        <a:graphic>
          <a:graphicData uri="http://schemas.openxmlformats.org/drawingml/2006/chart">
            <c:chart xmlns:c="http://schemas.openxmlformats.org/drawingml/2006/chart" xmlns:r="http://schemas.openxmlformats.org/officeDocument/2006/relationships" r:id="rId2"/>
          </a:graphicData>
        </a:graphic>
      </p:graphicFrame>
      <p:sp>
        <p:nvSpPr>
          <p:cNvPr id="29" name="Rounded Rectangle 28"/>
          <p:cNvSpPr/>
          <p:nvPr/>
        </p:nvSpPr>
        <p:spPr>
          <a:xfrm>
            <a:off x="822960" y="6355080"/>
            <a:ext cx="12984480" cy="914400"/>
          </a:xfrm>
          <a:prstGeom prst="roundRect">
            <a:avLst/>
          </a:prstGeom>
          <a:solidFill>
            <a:srgbClr val="FCF3EB"/>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6492240"/>
            <a:ext cx="12618719" cy="320040"/>
          </a:xfrm>
          <a:prstGeom prst="rect">
            <a:avLst/>
          </a:prstGeom>
          <a:noFill/>
        </p:spPr>
        <p:txBody>
          <a:bodyPr wrap="square" anchor="t">
            <a:spAutoFit/>
          </a:bodyPr>
          <a:lstStyle/>
          <a:p>
            <a:pPr algn="l">
              <a:defRPr sz="1300" b="1">
                <a:solidFill>
                  <a:srgbClr val="19263B"/>
                </a:solidFill>
              </a:defRPr>
            </a:pPr>
            <a:r>
              <a:t>边界说明</a:t>
            </a:r>
          </a:p>
        </p:txBody>
      </p:sp>
      <p:sp>
        <p:nvSpPr>
          <p:cNvPr id="31" name="TextBox 30"/>
          <p:cNvSpPr txBox="1"/>
          <p:nvPr/>
        </p:nvSpPr>
        <p:spPr>
          <a:xfrm>
            <a:off x="1005840" y="6858000"/>
            <a:ext cx="12618719" cy="228600"/>
          </a:xfrm>
          <a:prstGeom prst="rect">
            <a:avLst/>
          </a:prstGeom>
          <a:noFill/>
        </p:spPr>
        <p:txBody>
          <a:bodyPr wrap="square">
            <a:spAutoFit/>
          </a:bodyPr>
          <a:lstStyle/>
          <a:p>
            <a:pPr>
              <a:spcAft>
                <a:spcPts val="800"/>
              </a:spcAft>
              <a:defRPr sz="1000">
                <a:solidFill>
                  <a:srgbClr val="2E3A4A"/>
                </a:solidFill>
              </a:defRPr>
            </a:pPr>
            <a:r>
              <a:t>• 这组 Ethernet 结果的 topology 是 `TP=1, PP=2`，与 IB 主结果的 `TP=4, PP=1` 不同，因此二者的 MAPE 不能直接当作 apples-to-apples 排名。它更适合支撑“network-aware predictor 可迁移到慢网络场景”这一结论。</a:t>
            </a:r>
          </a:p>
        </p:txBody>
      </p:sp>
      <p:sp>
        <p:nvSpPr>
          <p:cNvPr id="32" name="TextBox 31"/>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Artifact source: Ethernet transfer_prediction_report.md and memory-bank/activeContext.md</a:t>
            </a:r>
          </a:p>
        </p:txBody>
      </p:sp>
      <p:sp>
        <p:nvSpPr>
          <p:cNvPr id="33" name="TextBox 32"/>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640080" y="320040"/>
            <a:ext cx="13533120" cy="502920"/>
          </a:xfrm>
          <a:prstGeom prst="rect">
            <a:avLst/>
          </a:prstGeom>
          <a:noFill/>
        </p:spPr>
        <p:txBody>
          <a:bodyPr wrap="square" anchor="t">
            <a:spAutoFit/>
          </a:bodyPr>
          <a:lstStyle/>
          <a:p>
            <a:pPr algn="l">
              <a:defRPr sz="2800" b="1">
                <a:solidFill>
                  <a:srgbClr val="19263B"/>
                </a:solidFill>
              </a:defRPr>
            </a:pPr>
            <a:r>
              <a:t>11. 结论与边界：这份汇报真正证明了什么</a:t>
            </a:r>
          </a:p>
        </p:txBody>
      </p:sp>
      <p:sp>
        <p:nvSpPr>
          <p:cNvPr id="3" name="Rectangle 2"/>
          <p:cNvSpPr/>
          <p:nvPr/>
        </p:nvSpPr>
        <p:spPr>
          <a:xfrm>
            <a:off x="640080" y="932688"/>
            <a:ext cx="1097280" cy="45720"/>
          </a:xfrm>
          <a:prstGeom prst="rect">
            <a:avLst/>
          </a:prstGeom>
          <a:solidFill>
            <a:srgbClr val="3456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508760"/>
            <a:ext cx="6309360" cy="3200400"/>
          </a:xfrm>
          <a:prstGeom prst="roundRect">
            <a:avLst/>
          </a:prstGeom>
          <a:solidFill>
            <a:srgbClr val="EBF5F0"/>
          </a:solidFill>
          <a:ln>
            <a:solidFill>
              <a:srgbClr val="247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19"/>
            <a:ext cx="5943600" cy="320040"/>
          </a:xfrm>
          <a:prstGeom prst="rect">
            <a:avLst/>
          </a:prstGeom>
          <a:noFill/>
        </p:spPr>
        <p:txBody>
          <a:bodyPr wrap="square" anchor="t">
            <a:spAutoFit/>
          </a:bodyPr>
          <a:lstStyle/>
          <a:p>
            <a:pPr algn="l">
              <a:defRPr sz="1500" b="1">
                <a:solidFill>
                  <a:srgbClr val="19263B"/>
                </a:solidFill>
              </a:defRPr>
            </a:pPr>
            <a:r>
              <a:t>可以稳妥主张的内容</a:t>
            </a:r>
          </a:p>
        </p:txBody>
      </p:sp>
      <p:sp>
        <p:nvSpPr>
          <p:cNvPr id="6" name="TextBox 5"/>
          <p:cNvSpPr txBox="1"/>
          <p:nvPr/>
        </p:nvSpPr>
        <p:spPr>
          <a:xfrm>
            <a:off x="1005840" y="2011680"/>
            <a:ext cx="5943600" cy="2514600"/>
          </a:xfrm>
          <a:prstGeom prst="rect">
            <a:avLst/>
          </a:prstGeom>
          <a:noFill/>
        </p:spPr>
        <p:txBody>
          <a:bodyPr wrap="square">
            <a:spAutoFit/>
          </a:bodyPr>
          <a:lstStyle/>
          <a:p>
            <a:pPr>
              <a:spcAft>
                <a:spcPts val="800"/>
              </a:spcAft>
              <a:defRPr sz="1300">
                <a:solidFill>
                  <a:srgbClr val="2E3A4A"/>
                </a:solidFill>
              </a:defRPr>
            </a:pPr>
            <a:r>
              <a:t>• Megatron-DeepSpeed baseline 不是天然的能效最优点。</a:t>
            </a:r>
          </a:p>
          <a:p>
            <a:pPr>
              <a:spcAft>
                <a:spcPts val="800"/>
              </a:spcAft>
              <a:defRPr sz="1300">
                <a:solidFill>
                  <a:srgbClr val="2E3A4A"/>
                </a:solidFill>
              </a:defRPr>
            </a:pPr>
            <a:r>
              <a:t>• 在受控 baseline/static 对照下，合适固定频点可以在几乎不改变训练时间的前提下降低平均功率与总能耗。</a:t>
            </a:r>
          </a:p>
          <a:p>
            <a:pPr>
              <a:spcAft>
                <a:spcPts val="800"/>
              </a:spcAft>
              <a:defRPr sz="1300">
                <a:solidFill>
                  <a:srgbClr val="2E3A4A"/>
                </a:solidFill>
              </a:defRPr>
            </a:pPr>
            <a:r>
              <a:t>• predictor 在 IB 与 Ethernet 两类网络下都能提供可用的跨拓扑时间预测，并帮助缩小候选频点范围。</a:t>
            </a:r>
          </a:p>
        </p:txBody>
      </p:sp>
      <p:sp>
        <p:nvSpPr>
          <p:cNvPr id="7" name="Rounded Rectangle 6"/>
          <p:cNvSpPr/>
          <p:nvPr/>
        </p:nvSpPr>
        <p:spPr>
          <a:xfrm>
            <a:off x="7406640" y="1508760"/>
            <a:ext cx="6400800" cy="3200400"/>
          </a:xfrm>
          <a:prstGeom prst="roundRect">
            <a:avLst/>
          </a:prstGeom>
          <a:solidFill>
            <a:srgbClr val="FCF3EB"/>
          </a:solidFill>
          <a:ln>
            <a:solidFill>
              <a:srgbClr val="A85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19" y="1645919"/>
            <a:ext cx="6035040" cy="320040"/>
          </a:xfrm>
          <a:prstGeom prst="rect">
            <a:avLst/>
          </a:prstGeom>
          <a:noFill/>
        </p:spPr>
        <p:txBody>
          <a:bodyPr wrap="square" anchor="t">
            <a:spAutoFit/>
          </a:bodyPr>
          <a:lstStyle/>
          <a:p>
            <a:pPr algn="l">
              <a:defRPr sz="1500" b="1">
                <a:solidFill>
                  <a:srgbClr val="19263B"/>
                </a:solidFill>
              </a:defRPr>
            </a:pPr>
            <a:r>
              <a:t>当前仍需避免的过强表述</a:t>
            </a:r>
          </a:p>
        </p:txBody>
      </p:sp>
      <p:sp>
        <p:nvSpPr>
          <p:cNvPr id="9" name="TextBox 8"/>
          <p:cNvSpPr txBox="1"/>
          <p:nvPr/>
        </p:nvSpPr>
        <p:spPr>
          <a:xfrm>
            <a:off x="7589519" y="2011680"/>
            <a:ext cx="6035040" cy="2514600"/>
          </a:xfrm>
          <a:prstGeom prst="rect">
            <a:avLst/>
          </a:prstGeom>
          <a:noFill/>
        </p:spPr>
        <p:txBody>
          <a:bodyPr wrap="square">
            <a:spAutoFit/>
          </a:bodyPr>
          <a:lstStyle/>
          <a:p>
            <a:pPr>
              <a:spcAft>
                <a:spcPts val="800"/>
              </a:spcAft>
              <a:defRPr sz="1300">
                <a:solidFill>
                  <a:srgbClr val="2E3A4A"/>
                </a:solidFill>
              </a:defRPr>
            </a:pPr>
            <a:r>
              <a:t>• 不要把所有“20%+ 节能”都归功于 predictor。</a:t>
            </a:r>
          </a:p>
          <a:p>
            <a:pPr>
              <a:spcAft>
                <a:spcPts val="800"/>
              </a:spcAft>
              <a:defRPr sz="1300">
                <a:solidFill>
                  <a:srgbClr val="2E3A4A"/>
                </a:solidFill>
              </a:defRPr>
            </a:pPr>
            <a:r>
              <a:t>• 不要把不同 topology / transport 的 MAPE 直接排成单一排行榜。</a:t>
            </a:r>
          </a:p>
          <a:p>
            <a:pPr>
              <a:spcAft>
                <a:spcPts val="800"/>
              </a:spcAft>
              <a:defRPr sz="1300">
                <a:solidFill>
                  <a:srgbClr val="2E3A4A"/>
                </a:solidFill>
              </a:defRPr>
            </a:pPr>
            <a:r>
              <a:t>• 不要把历史 preserved summary 说成全部是当前本地完整原始工件。</a:t>
            </a:r>
          </a:p>
        </p:txBody>
      </p:sp>
      <p:sp>
        <p:nvSpPr>
          <p:cNvPr id="10" name="Rounded Rectangle 9"/>
          <p:cNvSpPr/>
          <p:nvPr/>
        </p:nvSpPr>
        <p:spPr>
          <a:xfrm>
            <a:off x="822960" y="5074920"/>
            <a:ext cx="12984480" cy="1325880"/>
          </a:xfrm>
          <a:prstGeom prst="roundRect">
            <a:avLst/>
          </a:prstGeom>
          <a:solidFill>
            <a:srgbClr val="EBF1F9"/>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212080"/>
            <a:ext cx="12618719" cy="320040"/>
          </a:xfrm>
          <a:prstGeom prst="rect">
            <a:avLst/>
          </a:prstGeom>
          <a:noFill/>
        </p:spPr>
        <p:txBody>
          <a:bodyPr wrap="square" anchor="t">
            <a:spAutoFit/>
          </a:bodyPr>
          <a:lstStyle/>
          <a:p>
            <a:pPr algn="l">
              <a:defRPr sz="1500" b="1">
                <a:solidFill>
                  <a:srgbClr val="19263B"/>
                </a:solidFill>
              </a:defRPr>
            </a:pPr>
            <a:r>
              <a:t>下一步</a:t>
            </a:r>
          </a:p>
        </p:txBody>
      </p:sp>
      <p:sp>
        <p:nvSpPr>
          <p:cNvPr id="12" name="TextBox 11"/>
          <p:cNvSpPr txBox="1"/>
          <p:nvPr/>
        </p:nvSpPr>
        <p:spPr>
          <a:xfrm>
            <a:off x="1005840" y="5577840"/>
            <a:ext cx="12618719" cy="640080"/>
          </a:xfrm>
          <a:prstGeom prst="rect">
            <a:avLst/>
          </a:prstGeom>
          <a:noFill/>
        </p:spPr>
        <p:txBody>
          <a:bodyPr wrap="square">
            <a:spAutoFit/>
          </a:bodyPr>
          <a:lstStyle/>
          <a:p>
            <a:pPr>
              <a:spcAft>
                <a:spcPts val="800"/>
              </a:spcAft>
              <a:defRPr sz="1300">
                <a:solidFill>
                  <a:srgbClr val="2E3A4A"/>
                </a:solidFill>
              </a:defRPr>
            </a:pPr>
            <a:r>
              <a:t>• 继续补齐更多 transport-consistent 复现实验，并把当前图表化证据进一步下沉到论文正式图与答辩材料中。</a:t>
            </a:r>
          </a:p>
        </p:txBody>
      </p:sp>
      <p:sp>
        <p:nvSpPr>
          <p:cNvPr id="13" name="TextBox 12"/>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Conclusion source: 汇报总结_20260415/01_实验口径与主线.md, 05_证据清单.md, .context/paper/experimental_data.md</a:t>
            </a:r>
          </a:p>
        </p:txBody>
      </p:sp>
      <p:sp>
        <p:nvSpPr>
          <p:cNvPr id="14" name="TextBox 13"/>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p:sp>
        <p:nvSpPr>
          <p:cNvPr id="2" name="TextBox 1"/>
          <p:cNvSpPr txBox="1"/>
          <p:nvPr/>
        </p:nvSpPr>
        <p:spPr>
          <a:xfrm>
            <a:off x="914400" y="2103120"/>
            <a:ext cx="12801600" cy="822960"/>
          </a:xfrm>
          <a:prstGeom prst="rect">
            <a:avLst/>
          </a:prstGeom>
          <a:noFill/>
        </p:spPr>
        <p:txBody>
          <a:bodyPr wrap="square" anchor="t">
            <a:spAutoFit/>
          </a:bodyPr>
          <a:lstStyle/>
          <a:p>
            <a:pPr algn="ctr">
              <a:defRPr sz="3400" b="1">
                <a:solidFill>
                  <a:srgbClr val="19263B"/>
                </a:solidFill>
              </a:defRPr>
            </a:pPr>
            <a:r>
              <a:t>谢谢</a:t>
            </a:r>
          </a:p>
        </p:txBody>
      </p:sp>
      <p:sp>
        <p:nvSpPr>
          <p:cNvPr id="3" name="TextBox 2"/>
          <p:cNvSpPr txBox="1"/>
          <p:nvPr/>
        </p:nvSpPr>
        <p:spPr>
          <a:xfrm>
            <a:off x="914400" y="2971800"/>
            <a:ext cx="12801600" cy="457200"/>
          </a:xfrm>
          <a:prstGeom prst="rect">
            <a:avLst/>
          </a:prstGeom>
          <a:noFill/>
        </p:spPr>
        <p:txBody>
          <a:bodyPr wrap="square" anchor="t">
            <a:spAutoFit/>
          </a:bodyPr>
          <a:lstStyle/>
          <a:p>
            <a:pPr algn="ctr">
              <a:defRPr sz="1800" b="0">
                <a:solidFill>
                  <a:srgbClr val="34568B"/>
                </a:solidFill>
              </a:defRPr>
            </a:pPr>
            <a:r>
              <a:t>Q&amp;A</a:t>
            </a:r>
          </a:p>
        </p:txBody>
      </p:sp>
      <p:sp>
        <p:nvSpPr>
          <p:cNvPr id="4" name="Rounded Rectangle 3"/>
          <p:cNvSpPr/>
          <p:nvPr/>
        </p:nvSpPr>
        <p:spPr>
          <a:xfrm>
            <a:off x="2926080" y="4297680"/>
            <a:ext cx="8778240" cy="1554480"/>
          </a:xfrm>
          <a:prstGeom prst="roundRect">
            <a:avLst/>
          </a:prstGeom>
          <a:solidFill>
            <a:srgbClr val="EBF1F9"/>
          </a:solidFill>
          <a:ln>
            <a:solidFill>
              <a:srgbClr val="3456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0" y="4434840"/>
            <a:ext cx="8412480" cy="320040"/>
          </a:xfrm>
          <a:prstGeom prst="rect">
            <a:avLst/>
          </a:prstGeom>
          <a:noFill/>
        </p:spPr>
        <p:txBody>
          <a:bodyPr wrap="square" anchor="t">
            <a:spAutoFit/>
          </a:bodyPr>
          <a:lstStyle/>
          <a:p>
            <a:pPr algn="l">
              <a:defRPr sz="1500" b="1">
                <a:solidFill>
                  <a:srgbClr val="19263B"/>
                </a:solidFill>
              </a:defRPr>
            </a:pPr>
            <a:r>
              <a:t>附记</a:t>
            </a:r>
          </a:p>
        </p:txBody>
      </p:sp>
      <p:sp>
        <p:nvSpPr>
          <p:cNvPr id="6" name="TextBox 5"/>
          <p:cNvSpPr txBox="1"/>
          <p:nvPr/>
        </p:nvSpPr>
        <p:spPr>
          <a:xfrm>
            <a:off x="3108960" y="4800600"/>
            <a:ext cx="8412480" cy="868680"/>
          </a:xfrm>
          <a:prstGeom prst="rect">
            <a:avLst/>
          </a:prstGeom>
          <a:noFill/>
        </p:spPr>
        <p:txBody>
          <a:bodyPr wrap="square">
            <a:spAutoFit/>
          </a:bodyPr>
          <a:lstStyle/>
          <a:p>
            <a:pPr>
              <a:spcAft>
                <a:spcPts val="800"/>
              </a:spcAft>
              <a:defRPr sz="1300">
                <a:solidFill>
                  <a:srgbClr val="2E3A4A"/>
                </a:solidFill>
              </a:defRPr>
            </a:pPr>
            <a:r>
              <a:t>• 当前 deck 已经把 baseline/static 受控证据与 predictor 结果分层展示。若继续打磨，优先补图，不优先堆更多 headline。</a:t>
            </a:r>
          </a:p>
        </p:txBody>
      </p:sp>
      <p:sp>
        <p:nvSpPr>
          <p:cNvPr id="7" name="TextBox 6"/>
          <p:cNvSpPr txBox="1"/>
          <p:nvPr/>
        </p:nvSpPr>
        <p:spPr>
          <a:xfrm>
            <a:off x="640080" y="7726679"/>
            <a:ext cx="12618720" cy="182880"/>
          </a:xfrm>
          <a:prstGeom prst="rect">
            <a:avLst/>
          </a:prstGeom>
          <a:noFill/>
        </p:spPr>
        <p:txBody>
          <a:bodyPr wrap="square" anchor="t">
            <a:spAutoFit/>
          </a:bodyPr>
          <a:lstStyle/>
          <a:p>
            <a:pPr algn="l">
              <a:defRPr sz="900" b="0">
                <a:solidFill>
                  <a:srgbClr val="6C757D"/>
                </a:solidFill>
              </a:defRPr>
            </a:pPr>
            <a:r>
              <a:t>Generated by 汇报总结_20260415/generate_ppt.py</a:t>
            </a:r>
          </a:p>
        </p:txBody>
      </p:sp>
      <p:sp>
        <p:nvSpPr>
          <p:cNvPr id="8" name="TextBox 7"/>
          <p:cNvSpPr txBox="1"/>
          <p:nvPr/>
        </p:nvSpPr>
        <p:spPr>
          <a:xfrm>
            <a:off x="13533120" y="7699248"/>
            <a:ext cx="640080" cy="182880"/>
          </a:xfrm>
          <a:prstGeom prst="rect">
            <a:avLst/>
          </a:prstGeom>
          <a:noFill/>
        </p:spPr>
        <p:txBody>
          <a:bodyPr wrap="square" anchor="t">
            <a:spAutoFit/>
          </a:bodyPr>
          <a:lstStyle/>
          <a:p>
            <a:pPr algn="r">
              <a:defRPr sz="900" b="0">
                <a:solidFill>
                  <a:srgbClr val="6C757D"/>
                </a:solidFill>
              </a:defRPr>
            </a:pPr>
            <a: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6229</Words>
  <Application>WPS 演示</Application>
  <PresentationFormat>On-screen Show (4:3)</PresentationFormat>
  <Paragraphs>533</Paragraphs>
  <Slides>13</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13</vt:i4>
      </vt:variant>
    </vt:vector>
  </HeadingPairs>
  <TitlesOfParts>
    <vt:vector size="25" baseType="lpstr">
      <vt:lpstr>Arial</vt:lpstr>
      <vt:lpstr>宋体</vt:lpstr>
      <vt:lpstr>Wingdings</vt:lpstr>
      <vt:lpstr>Arial</vt:lpstr>
      <vt:lpstr>汉仪书宋二KW</vt:lpstr>
      <vt:lpstr>Calibri</vt:lpstr>
      <vt:lpstr>Helvetica Neue</vt:lpstr>
      <vt:lpstr>宋体</vt:lpstr>
      <vt:lpstr>微软雅黑</vt:lpstr>
      <vt:lpstr>汉仪旗黑</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stark_sim</cp:lastModifiedBy>
  <cp:revision>2</cp:revision>
  <dcterms:created xsi:type="dcterms:W3CDTF">2026-04-16T00:08:42Z</dcterms:created>
  <dcterms:modified xsi:type="dcterms:W3CDTF">2026-04-16T00:08:42Z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2052-12.1.24031.24031</vt:lpwstr>
  </property>
  <property fmtid="{D5CDD505-2E9C-101B-9397-08002B2CF9AE}" pid="3" name="ICV">
    <vt:lpwstr>E7F809FF4980C6EE8A28E069C825F09C_42</vt:lpwstr>
  </property>
</Properties>
</file>